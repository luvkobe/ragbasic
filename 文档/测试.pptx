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notesSlides/notesSlide1.xml" Type="http://schemas.openxmlformats.org/officeDocument/2006/relationships/notesSlide"/><Relationship Id="rId28" Target="notesSlides/notesSlide2.xml" Type="http://schemas.openxmlformats.org/officeDocument/2006/relationships/notesSlide"/><Relationship Id="rId29" Target="notesSlides/notesSlide3.xml" Type="http://schemas.openxmlformats.org/officeDocument/2006/relationships/notesSlide"/><Relationship Id="rId3" Target="presProps.xml" Type="http://schemas.openxmlformats.org/officeDocument/2006/relationships/pres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notesSlides/notesSlide7.xml" Type="http://schemas.openxmlformats.org/officeDocument/2006/relationships/notesSlide"/><Relationship Id="rId34" Target="notesSlides/notesSlide8.xml" Type="http://schemas.openxmlformats.org/officeDocument/2006/relationships/notesSlide"/><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39" Target="notesSlides/notesSlide13.xml" Type="http://schemas.openxmlformats.org/officeDocument/2006/relationships/notesSlide"/><Relationship Id="rId4" Target="slideMasters/slideMaster1.xml" Type="http://schemas.openxmlformats.org/officeDocument/2006/relationships/slideMaster"/><Relationship Id="rId40" Target="notesSlides/notesSlide14.xml" Type="http://schemas.openxmlformats.org/officeDocument/2006/relationships/notesSlide"/><Relationship Id="rId41" Target="notesSlides/notesSlide15.xml" Type="http://schemas.openxmlformats.org/officeDocument/2006/relationships/notesSlide"/><Relationship Id="rId42" Target="notesSlides/notesSlide16.xml" Type="http://schemas.openxmlformats.org/officeDocument/2006/relationships/notesSlide"/><Relationship Id="rId43" Target="notesSlides/notesSlide17.xml" Type="http://schemas.openxmlformats.org/officeDocument/2006/relationships/notesSlide"/><Relationship Id="rId44" Target="notesSlides/notesSlide18.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欢迎参加本次分享。今天我们将一起深入探讨一项正在重塑AI应用格局的关键技术——检索增强生成，也就是我们常说的RAG。本次分享将从RAG的核心理论出发，带你了解它的工作原理，对比它与传统微调技术的优劣，并深入到工程实践层面，探讨向量数据库的选型与优化策略。最后，我们还会分享如何构建高质量的RAG数据集。希望通过这次分享，能帮助大家全面掌握RAG技术，并将其应用到实际项目中，解锁AI的全新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分享将分为四个部分。首先，我们会从RAG的核心基础理论入手，理解它是什么，为什么重要，以及它的标准工作流程。接着，我们将进入工程实操环节，探讨如何选择合适的向量数据库，以及索引和相似度计算的最佳实践。第三部分，我们会深入RAG的优化进阶方案，学习如何提升检索的准确性和效率。最后，我们将分享构建高质量RAG数据集的规范和标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现在，让我们进入第一部分，深入了解RAG的核心基础理论。我们将探讨RAG的定义、它为我们解决了什么问题，以及它背后的标准工作流程。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那么，究竟什么是RAG？简单来说，RAG就是检索增强生成。它巧妙地将外部知识库的检索能力与大语言模型的生成能力结合起来。这项技术的核心价值在于解决了传统大模型的三大痛点：知识滞后、无法访问私有数据，以及容易产生幻觉。通过“先检索、再生成”的模式，RAG确保了模型的回答是基于真实、可靠的外部文档，从而大大提高了答案的准确性和可信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RAG的工作流程可以概括为一个标准的四阶段流水线。首先是文档预处理，我们需要对原始文档进行清洗，去除无关信息。接着是文本分块，将长文档切分成适合模型处理的小块。然后，这些文本块会被转换成向量并存储在向量数据库中。最后，当用户提出问题时，系统会先在数据库中检索最相关的文本片段，再将这些片段作为上下文，交给大语言模型生成最终的答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经常会把RAG和另一种技术——微调（Fine-tune）进行比较。这张表格清晰地展示了它们的区别。简单来说，微调更适合需要让模型学习特定领域知识或模仿特定风格的场景，但它成本高、更新困难。而RAG则更适合需要频繁更新知识、访问私有数据的场景，它成本低、更新容易，并且对模型幻觉的控制能力更强。因此，对于大多数需要连接外部知识库的应用来说，RAG是更优的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了解了RAG的理论基础后，我们接下来进入第二部分，探讨向量数据库的工程实操。向量数据库是RAG架构的基石，选择合适的数据库、索引和相似度计算方式至关重要。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市面上有多种向量数据库可供选择。这里我们列举了四种主流的方案。Milvus是开源分布式的，适合企业级大规模部署。Chroma非常轻量，适合开发者本地测试和调试。FAISS由Meta开源，以其极快的检索速度著称，但需要自行处理存储问题。而Pinecone是一种云托管服务，可以让你免运维快速上线。选择哪种取决于你的具体需求，比如数据规模、开发环境和运维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选择合适的索引是平衡检索速度和精度的关键。对于十万向量以下的小规模数据集，我们可以直接使用FLAT索引，它能保证100%的准确率。当数据量达到百万级别时，IVF_FLAT是一个很好的折中选择。而对于千万级以上的大规模生产环境，HNSW索引能提供最优的检索性能，尽管会有轻微的精度损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检索阶段，我们需要计算用户问题向量与数据库中向量的相似度。最常用的是余弦相似度，它衡量的是两个向量方向的差异，非常适合文本匹配。L2欧氏距离更多用于图像领域。而内积距离，只有在向量经过归一化处理后，才与余弦相似度效果相同。在文本RAG中，余弦相似度是你的首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掌握了基础操作后，我们如何进一步提升RAG的性能呢？接下来进入第三部分，我们将探讨一些RAG的优化进阶方案，包括如何优化检索过程、分块策略以及上下文窗口的管理。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让检索更精准，我们可以采用一些高级技巧。首先是Query改写，也叫HyDE，它通过生成一个假设性的答案来丰富用户问题的语义，从而提高召回率。其次是多路混合检索，结合向量检索和传统的关键词检索，取长补短。最后是重排技术，在初步检索后，用一个更精细的模型对结果进行二次排序，确保最相关的内容排在最前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文本分块的质量直接影响检索效果。好的分块策略包括：分层分块，即按照文档的章节结构来切分，保证语义完整性；动态分块，根据内容自动调整块大小，避免割裂句子；以及重叠滑动窗口，通过在块之间保留部分重叠内容，确保上下文的连续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我们必须关注上下文窗口的限制。每个大语言模型都有其最大上下文长度。一个重要的经验法则是，所有检索到的文本片段的总字符数，不应超过模型上下文窗口的70%。这样做是为了给用户问题、系统指令和最终的回答留出足够的空间，避免因输入过长而被截断，从而保证回答的完整性和准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工欲善其事，必先利其器。高质量的数据集是RAG系统成功的关键。在最后一部分，我们将分享构建RAG数据集的一些关键规范和标准。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构建数据集时，首先要保证原始文档的质量。我们推荐使用可复制文本的PDF格式。在处理文档时，要进行严格的清洗，去除无关信息。最重要的一点是，为每个文本块绑定丰富的元数据，比如来源、页码、分类等。这些元数据在后续检索时非常有用，可以帮助我们进行更精准的过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方便模型的训练和评测，我们需要一个标准化的数据集格式。这里展示了一个JSON格式的样例。每个数据点包含用户问题、标准答案、以及用于生成答案的参考上下文片段。这种结构化的格式不仅便于自动化处理，也为后续的评测工作奠定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我的分享到此结束，感谢大家的聆听。现在是问答环节，欢迎大家提问交流。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57.png" Type="http://schemas.openxmlformats.org/officeDocument/2006/relationships/image"/><Relationship Id="rId7" Target="../media/image58.svg" Type="http://schemas.openxmlformats.org/officeDocument/2006/relationships/image"/><Relationship Id="rId8"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8.xml" Type="http://schemas.openxmlformats.org/officeDocument/2006/relationships/notesSlide"/><Relationship Id="rId3" Target="../media/image5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327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255000" y="-1905000"/>
            <a:ext cx="5080000" cy="5080000"/>
          </a:xfrm>
          <a:prstGeom prst="ellipse">
            <a:avLst/>
          </a:prstGeom>
          <a:solidFill>
            <a:srgbClr val="10B981">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4445000" cy="4445000"/>
          </a:xfrm>
          <a:prstGeom prst="ellipse">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4" id="4"/>
          <p:cNvCxnSpPr/>
          <p:nvPr/>
        </p:nvCxnSpPr>
        <p:spPr>
          <a:xfrm rot="-3580" flipH="false" flipV="false">
            <a:off x="3" y="1644650"/>
            <a:ext cx="12192000" cy="12700"/>
          </a:xfrm>
          <a:prstGeom prst="straightConnector1">
            <a:avLst/>
          </a:prstGeom>
          <a:solidFill>
            <a:srgbClr val="DEE0E3">
              <a:alpha val="100000"/>
            </a:srgbClr>
          </a:solidFill>
          <a:ln w="12700" cmpd="sng" cap="flat">
            <a:solidFill>
              <a:srgbClr val="10B981">
                <a:alpha val="20000"/>
              </a:srgbClr>
            </a:solidFill>
            <a:prstDash val="solid"/>
            <a:round/>
            <a:headEnd type="none" w="med" len="med"/>
            <a:tailEnd type="none" w="med" len="med"/>
          </a:ln>
        </p:spPr>
      </p:cxnSp>
      <p:cxnSp>
        <p:nvCxnSpPr>
          <p:cNvPr name="Connector 5" id="5"/>
          <p:cNvCxnSpPr/>
          <p:nvPr/>
        </p:nvCxnSpPr>
        <p:spPr>
          <a:xfrm rot="-3580" flipH="false" flipV="false">
            <a:off x="3" y="5454650"/>
            <a:ext cx="12192000" cy="12700"/>
          </a:xfrm>
          <a:prstGeom prst="straightConnector1">
            <a:avLst/>
          </a:prstGeom>
          <a:solidFill>
            <a:srgbClr val="DEE0E3">
              <a:alpha val="100000"/>
            </a:srgbClr>
          </a:solidFill>
          <a:ln w="12700" cmpd="sng" cap="flat">
            <a:solidFill>
              <a:srgbClr val="10B981">
                <a:alpha val="20000"/>
              </a:srgbClr>
            </a:solidFill>
            <a:prstDash val="solid"/>
            <a:round/>
            <a:headEnd type="none" w="med" len="med"/>
            <a:tailEnd type="none" w="med" len="med"/>
          </a:ln>
        </p:spPr>
      </p:cxnSp>
      <p:sp>
        <p:nvSpPr>
          <p:cNvPr name="AutoShape 6" id="6"/>
          <p:cNvSpPr/>
          <p:nvPr/>
        </p:nvSpPr>
        <p:spPr>
          <a:xfrm rot="0" flipH="false" flipV="false">
            <a:off x="381000" y="2667000"/>
            <a:ext cx="11430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解锁AI新能力</a:t>
            </a:r>
            <a:endParaRPr lang="en-US" sz="1100"/>
          </a:p>
        </p:txBody>
      </p:sp>
      <p:sp>
        <p:nvSpPr>
          <p:cNvPr name="AutoShape 7" id="7"/>
          <p:cNvSpPr/>
          <p:nvPr/>
        </p:nvSpPr>
        <p:spPr>
          <a:xfrm rot="0" flipH="false" flipV="false">
            <a:off x="5588000" y="4000500"/>
            <a:ext cx="10160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381000" y="4445000"/>
            <a:ext cx="11430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000">
                <a:solidFill>
                  <a:srgbClr val="E5E7EB">
                    <a:alpha val="90196"/>
                  </a:srgbClr>
                </a:solidFill>
                <a:latin typeface="Noto Sans SC"/>
                <a:ea typeface="Noto Sans SC"/>
                <a:cs typeface="Noto Sans SC"/>
                <a:sym typeface="Noto Sans SC"/>
              </a:rPr>
              <a:t>RAG技术深度解析与实践</a:t>
            </a:r>
            <a:endParaRPr lang="en-US" sz="1100"/>
          </a:p>
        </p:txBody>
      </p:sp>
      <p:sp>
        <p:nvSpPr>
          <p:cNvPr name="AutoShape 9" id="9"/>
          <p:cNvSpPr/>
          <p:nvPr/>
        </p:nvSpPr>
        <p:spPr>
          <a:xfrm rot="0" flipH="false" flipV="false">
            <a:off x="508000" y="5715000"/>
            <a:ext cx="5334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9CA3AF"/>
                </a:solidFill>
                <a:latin typeface="Noto Sans SC"/>
                <a:ea typeface="Noto Sans SC"/>
                <a:cs typeface="Noto Sans SC"/>
                <a:sym typeface="Noto Sans SC"/>
              </a:rPr>
              <a:t>汇报人：AI助手</a:t>
            </a:r>
            <a:endParaRPr lang="en-US" sz="1100"/>
          </a:p>
        </p:txBody>
      </p:sp>
      <p:cxnSp>
        <p:nvCxnSpPr>
          <p:cNvPr name="Connector 10" id="10"/>
          <p:cNvCxnSpPr/>
          <p:nvPr/>
        </p:nvCxnSpPr>
        <p:spPr>
          <a:xfrm rot="5301805" flipH="false" flipV="false">
            <a:off x="5873750" y="5994491"/>
            <a:ext cx="444500" cy="12700"/>
          </a:xfrm>
          <a:prstGeom prst="straightConnector1">
            <a:avLst/>
          </a:prstGeom>
          <a:solidFill>
            <a:srgbClr val="DEE0E3">
              <a:alpha val="100000"/>
            </a:srgbClr>
          </a:solidFill>
          <a:ln w="12700" cmpd="sng" cap="flat">
            <a:solidFill>
              <a:srgbClr val="10B981">
                <a:alpha val="40000"/>
              </a:srgbClr>
            </a:solidFill>
            <a:prstDash val="solid"/>
            <a:round/>
            <a:headEnd type="none" w="med" len="med"/>
            <a:tailEnd type="none" w="med" len="med"/>
          </a:ln>
        </p:spPr>
      </p:cxnSp>
      <p:sp>
        <p:nvSpPr>
          <p:cNvPr name="AutoShape 11" id="11"/>
          <p:cNvSpPr/>
          <p:nvPr/>
        </p:nvSpPr>
        <p:spPr>
          <a:xfrm rot="0" flipH="false" flipV="false">
            <a:off x="6350000" y="5715000"/>
            <a:ext cx="5334000" cy="635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400">
                <a:solidFill>
                  <a:srgbClr val="9CA3AF"/>
                </a:solidFill>
                <a:latin typeface="Noto Sans SC"/>
                <a:ea typeface="Noto Sans SC"/>
                <a:cs typeface="Noto Sans SC"/>
                <a:sym typeface="Noto Sans SC"/>
              </a:rPr>
              <a:t>日期：2026年6月</a:t>
            </a:r>
            <a:endParaRPr lang="en-US" sz="1100"/>
          </a:p>
        </p:txBody>
      </p:sp>
      <p:pic>
        <p:nvPicPr>
          <p:cNvPr name="Picture 12" id="1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303000" y="635000"/>
            <a:ext cx="304800" cy="304800"/>
          </a:xfrm>
          <a:prstGeom prst="rect">
            <a:avLst/>
          </a:prstGeom>
        </p:spPr>
      </p:pic>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 y="635000"/>
            <a:ext cx="254000" cy="2540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p:cSld>
    <p:bg>
      <p:bgPr>
        <a:solidFill>
          <a:srgbClr val="2D2D2D">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目录 CONTENTS</a:t>
            </a:r>
            <a:endParaRPr lang="en-US" sz="1100"/>
          </a:p>
        </p:txBody>
      </p:sp>
      <p:cxnSp>
        <p:nvCxnSpPr>
          <p:cNvPr name="Connector 3" id="3"/>
          <p:cNvCxnSpPr/>
          <p:nvPr/>
        </p:nvCxnSpPr>
        <p:spPr>
          <a:xfrm rot="-4092" flipH="false" flipV="false">
            <a:off x="762004" y="1517650"/>
            <a:ext cx="10668000" cy="12700"/>
          </a:xfrm>
          <a:prstGeom prst="straightConnector1">
            <a:avLst/>
          </a:prstGeom>
          <a:solidFill>
            <a:srgbClr val="DEE0E3">
              <a:alpha val="100000"/>
            </a:srgbClr>
          </a:solidFill>
          <a:ln w="25400" cmpd="sng" cap="flat">
            <a:solidFill>
              <a:srgbClr val="00DC82">
                <a:alpha val="60000"/>
              </a:srgbClr>
            </a:solidFill>
            <a:prstDash val="solid"/>
            <a:round/>
            <a:headEnd type="none" w="lg" len="lg"/>
            <a:tailEnd type="none" w="lg" len="lg"/>
          </a:ln>
        </p:spPr>
      </p:cxnSp>
      <p:sp>
        <p:nvSpPr>
          <p:cNvPr name="AutoShape 4" id="4"/>
          <p:cNvSpPr/>
          <p:nvPr/>
        </p:nvSpPr>
        <p:spPr>
          <a:xfrm rot="0" flipH="false" flipV="false">
            <a:off x="762000" y="2032000"/>
            <a:ext cx="5207000" cy="18415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76200" cy="1841500"/>
          </a:xfrm>
          <a:prstGeom prst="roundRect">
            <a:avLst>
              <a:gd name="adj" fmla="val 0"/>
            </a:avLst>
          </a:prstGeom>
          <a:solidFill>
            <a:srgbClr val="00DC8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159000"/>
            <a:ext cx="101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00DC82"/>
                </a:solidFill>
                <a:latin typeface="Noto Sans SC"/>
                <a:ea typeface="Noto Sans SC"/>
                <a:cs typeface="Noto Sans SC"/>
                <a:sym typeface="Noto Sans SC"/>
              </a:rPr>
              <a:t>01</a:t>
            </a:r>
            <a:endParaRPr lang="en-US" sz="1100"/>
          </a:p>
        </p:txBody>
      </p:sp>
      <p:cxnSp>
        <p:nvCxnSpPr>
          <p:cNvPr name="Connector 7" id="7"/>
          <p:cNvCxnSpPr/>
          <p:nvPr/>
        </p:nvCxnSpPr>
        <p:spPr>
          <a:xfrm rot="5368748" flipH="false" flipV="false">
            <a:off x="1460500" y="2914679"/>
            <a:ext cx="1397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8" id="8"/>
          <p:cNvSpPr/>
          <p:nvPr/>
        </p:nvSpPr>
        <p:spPr>
          <a:xfrm rot="0" flipH="false" flipV="false">
            <a:off x="2413000" y="2222500"/>
            <a:ext cx="330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RAG核心基础理论</a:t>
            </a:r>
            <a:endParaRPr lang="en-US" sz="1100"/>
          </a:p>
        </p:txBody>
      </p:sp>
      <p:sp>
        <p:nvSpPr>
          <p:cNvPr name="AutoShape 9" id="9"/>
          <p:cNvSpPr/>
          <p:nvPr/>
        </p:nvSpPr>
        <p:spPr>
          <a:xfrm rot="0" flipH="false" flipV="false">
            <a:off x="2413000" y="2984500"/>
            <a:ext cx="330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70196"/>
                  </a:srgbClr>
                </a:solidFill>
                <a:latin typeface="Noto Sans SC"/>
                <a:ea typeface="Noto Sans SC"/>
                <a:cs typeface="Noto Sans SC"/>
                <a:sym typeface="Noto Sans SC"/>
              </a:rPr>
              <a:t>解析RAG的定义与核心价值，梳理从文档加载到生成输出的标准工作流程，构建对技术架构的基础认知。</a:t>
            </a:r>
            <a:endParaRPr lang="en-US" sz="1100"/>
          </a:p>
        </p:txBody>
      </p:sp>
      <p:sp>
        <p:nvSpPr>
          <p:cNvPr name="AutoShape 10" id="10"/>
          <p:cNvSpPr/>
          <p:nvPr/>
        </p:nvSpPr>
        <p:spPr>
          <a:xfrm rot="0" flipH="false" flipV="false">
            <a:off x="6223000" y="2032000"/>
            <a:ext cx="5207000" cy="18415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2032000"/>
            <a:ext cx="76200" cy="1841500"/>
          </a:xfrm>
          <a:prstGeom prst="roundRect">
            <a:avLst>
              <a:gd name="adj" fmla="val 0"/>
            </a:avLst>
          </a:prstGeom>
          <a:solidFill>
            <a:srgbClr val="00DC8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477000" y="2159000"/>
            <a:ext cx="101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00DC82"/>
                </a:solidFill>
                <a:latin typeface="Noto Sans SC"/>
                <a:ea typeface="Noto Sans SC"/>
                <a:cs typeface="Noto Sans SC"/>
                <a:sym typeface="Noto Sans SC"/>
              </a:rPr>
              <a:t>02</a:t>
            </a:r>
            <a:endParaRPr lang="en-US" sz="1100"/>
          </a:p>
        </p:txBody>
      </p:sp>
      <p:cxnSp>
        <p:nvCxnSpPr>
          <p:cNvPr name="Connector 13" id="13"/>
          <p:cNvCxnSpPr/>
          <p:nvPr/>
        </p:nvCxnSpPr>
        <p:spPr>
          <a:xfrm rot="5368748" flipH="false" flipV="false">
            <a:off x="6921500" y="2914679"/>
            <a:ext cx="1397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4" id="14"/>
          <p:cNvSpPr/>
          <p:nvPr/>
        </p:nvSpPr>
        <p:spPr>
          <a:xfrm rot="0" flipH="false" flipV="false">
            <a:off x="7874000" y="2222500"/>
            <a:ext cx="330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向量数据库工程实操</a:t>
            </a:r>
            <a:endParaRPr lang="en-US" sz="1100"/>
          </a:p>
        </p:txBody>
      </p:sp>
      <p:sp>
        <p:nvSpPr>
          <p:cNvPr name="AutoShape 15" id="15"/>
          <p:cNvSpPr/>
          <p:nvPr/>
        </p:nvSpPr>
        <p:spPr>
          <a:xfrm rot="0" flipH="false" flipV="false">
            <a:off x="7874000" y="2984500"/>
            <a:ext cx="330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70196"/>
                  </a:srgbClr>
                </a:solidFill>
                <a:latin typeface="Noto Sans SC"/>
                <a:ea typeface="Noto Sans SC"/>
                <a:cs typeface="Noto Sans SC"/>
                <a:sym typeface="Noto Sans SC"/>
              </a:rPr>
              <a:t>探讨主流向量数据库选型策略，详解索引构建、分片管理与相似度算法的工程落地，夯实系统底层能力。</a:t>
            </a:r>
            <a:endParaRPr lang="en-US" sz="1100"/>
          </a:p>
        </p:txBody>
      </p:sp>
      <p:sp>
        <p:nvSpPr>
          <p:cNvPr name="AutoShape 16" id="16"/>
          <p:cNvSpPr/>
          <p:nvPr/>
        </p:nvSpPr>
        <p:spPr>
          <a:xfrm rot="0" flipH="false" flipV="false">
            <a:off x="762000" y="4318000"/>
            <a:ext cx="5207000" cy="18415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4318000"/>
            <a:ext cx="76200" cy="1841500"/>
          </a:xfrm>
          <a:prstGeom prst="roundRect">
            <a:avLst>
              <a:gd name="adj" fmla="val 0"/>
            </a:avLst>
          </a:prstGeom>
          <a:solidFill>
            <a:srgbClr val="00DC8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4445000"/>
            <a:ext cx="101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00DC82"/>
                </a:solidFill>
                <a:latin typeface="Noto Sans SC"/>
                <a:ea typeface="Noto Sans SC"/>
                <a:cs typeface="Noto Sans SC"/>
                <a:sym typeface="Noto Sans SC"/>
              </a:rPr>
              <a:t>03</a:t>
            </a:r>
            <a:endParaRPr lang="en-US" sz="1100"/>
          </a:p>
        </p:txBody>
      </p:sp>
      <p:cxnSp>
        <p:nvCxnSpPr>
          <p:cNvPr name="Connector 19" id="19"/>
          <p:cNvCxnSpPr/>
          <p:nvPr/>
        </p:nvCxnSpPr>
        <p:spPr>
          <a:xfrm rot="5368748" flipH="false" flipV="false">
            <a:off x="1460500" y="5200679"/>
            <a:ext cx="1397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20" id="20"/>
          <p:cNvSpPr/>
          <p:nvPr/>
        </p:nvSpPr>
        <p:spPr>
          <a:xfrm rot="0" flipH="false" flipV="false">
            <a:off x="2413000" y="4508500"/>
            <a:ext cx="330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RAG优化进阶方案</a:t>
            </a:r>
            <a:endParaRPr lang="en-US" sz="1100"/>
          </a:p>
        </p:txBody>
      </p:sp>
      <p:sp>
        <p:nvSpPr>
          <p:cNvPr name="AutoShape 21" id="21"/>
          <p:cNvSpPr/>
          <p:nvPr/>
        </p:nvSpPr>
        <p:spPr>
          <a:xfrm rot="0" flipH="false" flipV="false">
            <a:off x="2413000" y="5207000"/>
            <a:ext cx="3302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70196"/>
                  </a:srgbClr>
                </a:solidFill>
                <a:latin typeface="Noto Sans SC"/>
                <a:ea typeface="Noto Sans SC"/>
                <a:cs typeface="Noto Sans SC"/>
                <a:sym typeface="Noto Sans SC"/>
              </a:rPr>
              <a:t>深入检索增强技术细节，掌握文档分块策略、上下文窗口约束及重排序机制，解决幻觉与相关性不足问题。</a:t>
            </a:r>
            <a:endParaRPr lang="en-US" sz="1100"/>
          </a:p>
        </p:txBody>
      </p:sp>
      <p:sp>
        <p:nvSpPr>
          <p:cNvPr name="AutoShape 22" id="22"/>
          <p:cNvSpPr/>
          <p:nvPr/>
        </p:nvSpPr>
        <p:spPr>
          <a:xfrm rot="0" flipH="false" flipV="false">
            <a:off x="6223000" y="4318000"/>
            <a:ext cx="5207000" cy="18415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223000" y="4318000"/>
            <a:ext cx="76200" cy="1841500"/>
          </a:xfrm>
          <a:prstGeom prst="roundRect">
            <a:avLst>
              <a:gd name="adj" fmla="val 0"/>
            </a:avLst>
          </a:prstGeom>
          <a:solidFill>
            <a:srgbClr val="00DC8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477000" y="4445000"/>
            <a:ext cx="101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00DC82"/>
                </a:solidFill>
                <a:latin typeface="Noto Sans SC"/>
                <a:ea typeface="Noto Sans SC"/>
                <a:cs typeface="Noto Sans SC"/>
                <a:sym typeface="Noto Sans SC"/>
              </a:rPr>
              <a:t>04</a:t>
            </a:r>
            <a:endParaRPr lang="en-US" sz="1100"/>
          </a:p>
        </p:txBody>
      </p:sp>
      <p:cxnSp>
        <p:nvCxnSpPr>
          <p:cNvPr name="Connector 25" id="25"/>
          <p:cNvCxnSpPr/>
          <p:nvPr/>
        </p:nvCxnSpPr>
        <p:spPr>
          <a:xfrm rot="5368748" flipH="false" flipV="false">
            <a:off x="6921500" y="5200679"/>
            <a:ext cx="1397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26" id="26"/>
          <p:cNvSpPr/>
          <p:nvPr/>
        </p:nvSpPr>
        <p:spPr>
          <a:xfrm rot="0" flipH="false" flipV="false">
            <a:off x="7874000" y="4508500"/>
            <a:ext cx="330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RAG数据集构建规范</a:t>
            </a:r>
            <a:endParaRPr lang="en-US" sz="1100"/>
          </a:p>
        </p:txBody>
      </p:sp>
      <p:sp>
        <p:nvSpPr>
          <p:cNvPr name="AutoShape 27" id="27"/>
          <p:cNvSpPr/>
          <p:nvPr/>
        </p:nvSpPr>
        <p:spPr>
          <a:xfrm rot="0" flipH="false" flipV="false">
            <a:off x="7874000" y="5207000"/>
            <a:ext cx="3302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70196"/>
                  </a:srgbClr>
                </a:solidFill>
                <a:latin typeface="Noto Sans SC"/>
                <a:ea typeface="Noto Sans SC"/>
                <a:cs typeface="Noto Sans SC"/>
                <a:sym typeface="Noto Sans SC"/>
              </a:rPr>
              <a:t>制定标准化的文档采集、清洗与标注流程，规范数据集格式与质量评估体系，为模型提供可靠的知识来源。</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C1C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270000" y="-1270000"/>
            <a:ext cx="5080000" cy="5080000"/>
          </a:xfrm>
          <a:prstGeom prst="ellipse">
            <a:avLst/>
          </a:prstGeom>
          <a:solidFill>
            <a:srgbClr val="00E08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0" y="3810000"/>
            <a:ext cx="6350000" cy="6350000"/>
          </a:xfrm>
          <a:prstGeom prst="ellipse">
            <a:avLst/>
          </a:prstGeom>
          <a:solidFill>
            <a:srgbClr val="00E08E">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905000"/>
            <a:ext cx="12192000" cy="228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0">
                <a:solidFill>
                  <a:srgbClr val="00E08E">
                    <a:alpha val="80000"/>
                  </a:srgbClr>
                </a:solidFill>
                <a:latin typeface="Noto Sans SC"/>
                <a:ea typeface="Noto Sans SC"/>
                <a:cs typeface="Noto Sans SC"/>
                <a:sym typeface="Noto Sans SC"/>
              </a:rPr>
              <a:t>01</a:t>
            </a:r>
            <a:endParaRPr lang="en-US" sz="1100"/>
          </a:p>
        </p:txBody>
      </p:sp>
      <p:cxnSp>
        <p:nvCxnSpPr>
          <p:cNvPr name="Connector 5" id="5"/>
          <p:cNvCxnSpPr/>
          <p:nvPr/>
        </p:nvCxnSpPr>
        <p:spPr>
          <a:xfrm rot="-11459" flipH="false" flipV="false">
            <a:off x="4191011" y="4692650"/>
            <a:ext cx="3810000" cy="12700"/>
          </a:xfrm>
          <a:prstGeom prst="straightConnector1">
            <a:avLst/>
          </a:prstGeom>
          <a:solidFill>
            <a:srgbClr val="DEE0E3">
              <a:alpha val="100000"/>
            </a:srgbClr>
          </a:solidFill>
          <a:ln w="25400" cmpd="sng" cap="flat">
            <a:solidFill>
              <a:srgbClr val="00E08E">
                <a:alpha val="60000"/>
              </a:srgbClr>
            </a:solidFill>
            <a:prstDash val="solid"/>
            <a:round/>
            <a:headEnd type="none" w="lg" len="lg"/>
            <a:tailEnd type="none" w="lg" len="lg"/>
          </a:ln>
        </p:spPr>
      </p:cxnSp>
      <p:sp>
        <p:nvSpPr>
          <p:cNvPr name="AutoShape 6" id="6"/>
          <p:cNvSpPr/>
          <p:nvPr/>
        </p:nvSpPr>
        <p:spPr>
          <a:xfrm rot="0" flipH="false" flipV="false">
            <a:off x="0" y="5080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FFFFFF"/>
                </a:solidFill>
                <a:latin typeface="Noto Sans SC"/>
                <a:ea typeface="Noto Sans SC"/>
                <a:cs typeface="Noto Sans SC"/>
                <a:sym typeface="Noto Sans SC"/>
              </a:rPr>
              <a:t>RAG核心基础理论</a:t>
            </a:r>
            <a:endParaRPr lang="en-US" sz="1100"/>
          </a:p>
        </p:txBody>
      </p:sp>
      <p:sp>
        <p:nvSpPr>
          <p:cNvPr name="AutoShape 7" id="7"/>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解析定义本质 · 直击传统LLM痛点 · 拆解标准技术流程</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6262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4445000"/>
            <a:ext cx="5080000" cy="5080000"/>
          </a:xfrm>
          <a:prstGeom prst="ellipse">
            <a:avLst/>
          </a:prstGeom>
          <a:solidFill>
            <a:srgbClr val="4ADE80">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1270000"/>
            <a:ext cx="5080000" cy="5080000"/>
          </a:xfrm>
          <a:prstGeom prst="ellipse">
            <a:avLst/>
          </a:prstGeom>
          <a:solidFill>
            <a:srgbClr val="4ADE80">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RAG定义与核心价值</a:t>
            </a:r>
            <a:endParaRPr lang="en-US" sz="1100"/>
          </a:p>
        </p:txBody>
      </p:sp>
      <p:sp>
        <p:nvSpPr>
          <p:cNvPr name="AutoShape 5" id="5"/>
          <p:cNvSpPr/>
          <p:nvPr/>
        </p:nvSpPr>
        <p:spPr>
          <a:xfrm rot="0" flipH="false" flipV="false">
            <a:off x="762000" y="1651000"/>
            <a:ext cx="10668000" cy="1206500"/>
          </a:xfrm>
          <a:prstGeom prst="roundRect">
            <a:avLst>
              <a:gd name="adj" fmla="val 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651000"/>
            <a:ext cx="76200" cy="12065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79500" y="1778000"/>
            <a:ext cx="10096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EBEBEB"/>
                </a:solidFill>
                <a:latin typeface="Noto Sans SC"/>
                <a:ea typeface="Noto Sans SC"/>
                <a:cs typeface="Noto Sans SC"/>
                <a:sym typeface="Noto Sans SC"/>
              </a:rPr>
              <a:t>检索增强生成（Retrieval-Augmented Generation）是一种将</a:t>
            </a:r>
            <a:r>
              <a:rPr lang="en-US" b="true" i="false" strike="noStrike" u="none" sz="1600">
                <a:solidFill>
                  <a:srgbClr val="4ADE80"/>
                </a:solidFill>
                <a:latin typeface="Noto Sans SC"/>
                <a:ea typeface="Noto Sans SC"/>
                <a:cs typeface="Noto Sans SC"/>
                <a:sym typeface="Noto Sans SC"/>
              </a:rPr>
              <a:t>外部知识库检索</a:t>
            </a:r>
            <a:r>
              <a:rPr lang="en-US" b="false" i="false" strike="noStrike" u="none" sz="1600">
                <a:solidFill>
                  <a:srgbClr val="EBEBEB"/>
                </a:solidFill>
                <a:latin typeface="Noto Sans SC"/>
                <a:ea typeface="Noto Sans SC"/>
                <a:cs typeface="Noto Sans SC"/>
                <a:sym typeface="Noto Sans SC"/>
              </a:rPr>
              <a:t>与</a:t>
            </a:r>
            <a:r>
              <a:rPr lang="en-US" b="true" i="false" strike="noStrike" u="none" sz="1600">
                <a:solidFill>
                  <a:srgbClr val="4ADE80"/>
                </a:solidFill>
                <a:latin typeface="Noto Sans SC"/>
                <a:ea typeface="Noto Sans SC"/>
                <a:cs typeface="Noto Sans SC"/>
                <a:sym typeface="Noto Sans SC"/>
              </a:rPr>
              <a:t>大语言模型（LLM）生成</a:t>
            </a:r>
            <a:r>
              <a:rPr lang="en-US" b="false" i="false" strike="noStrike" u="none" sz="1600">
                <a:solidFill>
                  <a:srgbClr val="EBEBEB"/>
                </a:solidFill>
                <a:latin typeface="Noto Sans SC"/>
                <a:ea typeface="Noto Sans SC"/>
                <a:cs typeface="Noto Sans SC"/>
                <a:sym typeface="Noto Sans SC"/>
              </a:rPr>
              <a:t>相结合的技术架构，通过引入真实、实时的外部数据，为LLM提供可靠的生成依据。</a:t>
            </a:r>
            <a:endParaRPr lang="en-US" sz="1100"/>
          </a:p>
        </p:txBody>
      </p:sp>
      <p:sp>
        <p:nvSpPr>
          <p:cNvPr name="AutoShape 8" id="8"/>
          <p:cNvSpPr/>
          <p:nvPr/>
        </p:nvSpPr>
        <p:spPr>
          <a:xfrm rot="0" flipH="false" flipV="false">
            <a:off x="762000" y="3302000"/>
            <a:ext cx="3429000" cy="1905000"/>
          </a:xfrm>
          <a:prstGeom prst="roundRect">
            <a:avLst>
              <a:gd name="adj" fmla="val 0"/>
            </a:avLst>
          </a:prstGeom>
          <a:solidFill>
            <a:srgbClr val="FFFFFF">
              <a:alpha val="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3492500"/>
            <a:ext cx="406400" cy="406400"/>
          </a:xfrm>
          <a:prstGeom prst="rect">
            <a:avLst/>
          </a:prstGeom>
        </p:spPr>
      </p:pic>
      <p:sp>
        <p:nvSpPr>
          <p:cNvPr name="AutoShape 10" id="10"/>
          <p:cNvSpPr/>
          <p:nvPr/>
        </p:nvSpPr>
        <p:spPr>
          <a:xfrm rot="0" flipH="false" flipV="false">
            <a:off x="1524000" y="3454400"/>
            <a:ext cx="254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解决知识滞后痛点</a:t>
            </a:r>
            <a:endParaRPr lang="en-US" sz="1100"/>
          </a:p>
        </p:txBody>
      </p:sp>
      <p:cxnSp>
        <p:nvCxnSpPr>
          <p:cNvPr name="Connector 11" id="11"/>
          <p:cNvCxnSpPr/>
          <p:nvPr/>
        </p:nvCxnSpPr>
        <p:spPr>
          <a:xfrm rot="-14323" flipH="false" flipV="false">
            <a:off x="952513" y="4057650"/>
            <a:ext cx="3048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2" id="12"/>
          <p:cNvSpPr/>
          <p:nvPr/>
        </p:nvSpPr>
        <p:spPr>
          <a:xfrm rot="0" flipH="false" flipV="false">
            <a:off x="952500" y="4191000"/>
            <a:ext cx="304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LLM的知识受限于训练截止时间，无法获取最新信息。RAG可实时接入最新文档与资讯，让回答始终保持时效性。</a:t>
            </a:r>
            <a:endParaRPr lang="en-US" sz="1100"/>
          </a:p>
        </p:txBody>
      </p:sp>
      <p:sp>
        <p:nvSpPr>
          <p:cNvPr name="AutoShape 13" id="13"/>
          <p:cNvSpPr/>
          <p:nvPr/>
        </p:nvSpPr>
        <p:spPr>
          <a:xfrm rot="0" flipH="false" flipV="false">
            <a:off x="4381500" y="3302000"/>
            <a:ext cx="3429000" cy="1905000"/>
          </a:xfrm>
          <a:prstGeom prst="roundRect">
            <a:avLst>
              <a:gd name="adj" fmla="val 0"/>
            </a:avLst>
          </a:prstGeom>
          <a:solidFill>
            <a:srgbClr val="FFFFFF">
              <a:alpha val="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72000" y="3492500"/>
            <a:ext cx="406400" cy="406400"/>
          </a:xfrm>
          <a:prstGeom prst="rect">
            <a:avLst/>
          </a:prstGeom>
        </p:spPr>
      </p:pic>
      <p:sp>
        <p:nvSpPr>
          <p:cNvPr name="AutoShape 15" id="15"/>
          <p:cNvSpPr/>
          <p:nvPr/>
        </p:nvSpPr>
        <p:spPr>
          <a:xfrm rot="0" flipH="false" flipV="false">
            <a:off x="5143500" y="3454400"/>
            <a:ext cx="254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解锁私有数据资产</a:t>
            </a:r>
            <a:endParaRPr lang="en-US" sz="1100"/>
          </a:p>
        </p:txBody>
      </p:sp>
      <p:cxnSp>
        <p:nvCxnSpPr>
          <p:cNvPr name="Connector 16" id="16"/>
          <p:cNvCxnSpPr/>
          <p:nvPr/>
        </p:nvCxnSpPr>
        <p:spPr>
          <a:xfrm rot="-14323" flipH="false" flipV="false">
            <a:off x="4572013" y="4057650"/>
            <a:ext cx="3048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7" id="17"/>
          <p:cNvSpPr/>
          <p:nvPr/>
        </p:nvSpPr>
        <p:spPr>
          <a:xfrm rot="0" flipH="false" flipV="false">
            <a:off x="4572000" y="4191000"/>
            <a:ext cx="304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企业内部文档、个人数据等私有信息无法被通用LLM访问。RAG能在不泄露数据的前提下，安全利用这些专属知识库。</a:t>
            </a:r>
            <a:endParaRPr lang="en-US" sz="1100"/>
          </a:p>
        </p:txBody>
      </p:sp>
      <p:sp>
        <p:nvSpPr>
          <p:cNvPr name="AutoShape 18" id="18"/>
          <p:cNvSpPr/>
          <p:nvPr/>
        </p:nvSpPr>
        <p:spPr>
          <a:xfrm rot="0" flipH="false" flipV="false">
            <a:off x="8001000" y="3302000"/>
            <a:ext cx="3429000" cy="1905000"/>
          </a:xfrm>
          <a:prstGeom prst="roundRect">
            <a:avLst>
              <a:gd name="adj" fmla="val 0"/>
            </a:avLst>
          </a:prstGeom>
          <a:solidFill>
            <a:srgbClr val="FFFFFF">
              <a:alpha val="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191500" y="3492500"/>
            <a:ext cx="406400" cy="406400"/>
          </a:xfrm>
          <a:prstGeom prst="rect">
            <a:avLst/>
          </a:prstGeom>
        </p:spPr>
      </p:pic>
      <p:sp>
        <p:nvSpPr>
          <p:cNvPr name="AutoShape 20" id="20"/>
          <p:cNvSpPr/>
          <p:nvPr/>
        </p:nvSpPr>
        <p:spPr>
          <a:xfrm rot="0" flipH="false" flipV="false">
            <a:off x="8763000" y="3454400"/>
            <a:ext cx="254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大幅降低模型幻觉</a:t>
            </a:r>
            <a:endParaRPr lang="en-US" sz="1100"/>
          </a:p>
        </p:txBody>
      </p:sp>
      <p:cxnSp>
        <p:nvCxnSpPr>
          <p:cNvPr name="Connector 21" id="21"/>
          <p:cNvCxnSpPr/>
          <p:nvPr/>
        </p:nvCxnSpPr>
        <p:spPr>
          <a:xfrm rot="-14323" flipH="false" flipV="false">
            <a:off x="8191513" y="4057650"/>
            <a:ext cx="3048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22" id="22"/>
          <p:cNvSpPr/>
          <p:nvPr/>
        </p:nvSpPr>
        <p:spPr>
          <a:xfrm rot="0" flipH="false" flipV="false">
            <a:off x="8191500" y="4191000"/>
            <a:ext cx="304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强制模型基于检索到的真实文档生成内容，而非凭空编造，从生成逻辑上约束输出，显著提升回答的准确性与可信度。</a:t>
            </a:r>
            <a:endParaRPr lang="en-US" sz="1100"/>
          </a:p>
        </p:txBody>
      </p:sp>
      <p:sp>
        <p:nvSpPr>
          <p:cNvPr name="AutoShape 23" id="23"/>
          <p:cNvSpPr/>
          <p:nvPr/>
        </p:nvSpPr>
        <p:spPr>
          <a:xfrm rot="0" flipH="false" flipV="false">
            <a:off x="762000" y="5588000"/>
            <a:ext cx="10668000" cy="889000"/>
          </a:xfrm>
          <a:prstGeom prst="roundRect">
            <a:avLst>
              <a:gd name="adj" fmla="val 0"/>
            </a:avLst>
          </a:prstGeom>
          <a:solidFill>
            <a:srgbClr val="4ADE80">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952500" y="5715000"/>
            <a:ext cx="304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ADE80"/>
                </a:solidFill>
                <a:latin typeface="Noto Sans SC"/>
                <a:ea typeface="Noto Sans SC"/>
                <a:cs typeface="Noto Sans SC"/>
                <a:sym typeface="Noto Sans SC"/>
              </a:rPr>
              <a:t>01 检索知识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D1D5DB"/>
                </a:solidFill>
                <a:latin typeface="Noto Sans SC"/>
                <a:ea typeface="Noto Sans SC"/>
                <a:cs typeface="Noto Sans SC"/>
                <a:sym typeface="Noto Sans SC"/>
              </a:rPr>
              <a:t>从海量外部知识库中精准召回相关信息</a:t>
            </a:r>
          </a:p>
        </p:txBody>
      </p:sp>
      <p:cxnSp>
        <p:nvCxnSpPr>
          <p:cNvPr name="Connector 25" id="25"/>
          <p:cNvCxnSpPr/>
          <p:nvPr/>
        </p:nvCxnSpPr>
        <p:spPr>
          <a:xfrm rot="5331254" flipH="false" flipV="false">
            <a:off x="3873500" y="6026213"/>
            <a:ext cx="635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6" id="26"/>
          <p:cNvSpPr/>
          <p:nvPr/>
        </p:nvSpPr>
        <p:spPr>
          <a:xfrm rot="0" flipH="false" flipV="false">
            <a:off x="4445000" y="5715000"/>
            <a:ext cx="304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ADE80"/>
                </a:solidFill>
                <a:latin typeface="Noto Sans SC"/>
                <a:ea typeface="Noto Sans SC"/>
                <a:cs typeface="Noto Sans SC"/>
                <a:sym typeface="Noto Sans SC"/>
              </a:rPr>
              <a:t>02 拼接上下文</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D1D5DB"/>
                </a:solidFill>
                <a:latin typeface="Noto Sans SC"/>
                <a:ea typeface="Noto Sans SC"/>
                <a:cs typeface="Noto Sans SC"/>
                <a:sym typeface="Noto Sans SC"/>
              </a:rPr>
              <a:t>将检索结果与用户问题组合为新的输入Prompt</a:t>
            </a:r>
          </a:p>
        </p:txBody>
      </p:sp>
      <p:cxnSp>
        <p:nvCxnSpPr>
          <p:cNvPr name="Connector 27" id="27"/>
          <p:cNvCxnSpPr/>
          <p:nvPr/>
        </p:nvCxnSpPr>
        <p:spPr>
          <a:xfrm rot="5331254" flipH="false" flipV="false">
            <a:off x="7302500" y="6026213"/>
            <a:ext cx="635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8" id="28"/>
          <p:cNvSpPr/>
          <p:nvPr/>
        </p:nvSpPr>
        <p:spPr>
          <a:xfrm rot="0" flipH="false" flipV="false">
            <a:off x="7874000" y="5715000"/>
            <a:ext cx="317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ADE80"/>
                </a:solidFill>
                <a:latin typeface="Noto Sans SC"/>
                <a:ea typeface="Noto Sans SC"/>
                <a:cs typeface="Noto Sans SC"/>
                <a:sym typeface="Noto Sans SC"/>
              </a:rPr>
              <a:t>03 生成可靠回答</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D1D5DB"/>
                </a:solidFill>
                <a:latin typeface="Noto Sans SC"/>
                <a:ea typeface="Noto Sans SC"/>
                <a:cs typeface="Noto Sans SC"/>
                <a:sym typeface="Noto Sans SC"/>
              </a:rPr>
              <a:t>LLM基于真实文档生成有据可依的精准回复</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8282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RAG标准四阶段流水线</a:t>
            </a:r>
            <a:endParaRPr lang="en-US" sz="1100"/>
          </a:p>
        </p:txBody>
      </p:sp>
      <p:sp>
        <p:nvSpPr>
          <p:cNvPr name="AutoShape 3" id="3"/>
          <p:cNvSpPr/>
          <p:nvPr/>
        </p:nvSpPr>
        <p:spPr>
          <a:xfrm rot="0" flipH="false" flipV="false">
            <a:off x="762000" y="2032000"/>
            <a:ext cx="2540000" cy="3302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032000"/>
            <a:ext cx="2540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22860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ADE80"/>
                </a:solidFill>
                <a:latin typeface="Noto Sans SC"/>
                <a:ea typeface="Noto Sans SC"/>
                <a:cs typeface="Noto Sans SC"/>
                <a:sym typeface="Noto Sans SC"/>
              </a:rPr>
              <a:t>01</a:t>
            </a:r>
            <a:endParaRPr lang="en-US" sz="1100"/>
          </a:p>
        </p:txBody>
      </p:sp>
      <p:cxnSp>
        <p:nvCxnSpPr>
          <p:cNvPr name="Connector 6" id="6"/>
          <p:cNvCxnSpPr/>
          <p:nvPr/>
        </p:nvCxnSpPr>
        <p:spPr>
          <a:xfrm rot="-20221" flipH="false" flipV="false">
            <a:off x="952519" y="3041650"/>
            <a:ext cx="215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7" id="7"/>
          <p:cNvSpPr/>
          <p:nvPr/>
        </p:nvSpPr>
        <p:spPr>
          <a:xfrm rot="0" flipH="false" flipV="false">
            <a:off x="952500" y="3302000"/>
            <a:ext cx="215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文档预处理</a:t>
            </a:r>
            <a:endParaRPr lang="en-US" sz="1100"/>
          </a:p>
        </p:txBody>
      </p:sp>
      <p:sp>
        <p:nvSpPr>
          <p:cNvPr name="AutoShape 8" id="8"/>
          <p:cNvSpPr/>
          <p:nvPr/>
        </p:nvSpPr>
        <p:spPr>
          <a:xfrm rot="0" flipH="false" flipV="false">
            <a:off x="952500" y="4064000"/>
            <a:ext cx="215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0000"/>
                  </a:srgbClr>
                </a:solidFill>
                <a:latin typeface="Noto Sans SC"/>
                <a:ea typeface="Noto Sans SC"/>
                <a:cs typeface="Noto Sans SC"/>
                <a:sym typeface="Noto Sans SC"/>
              </a:rPr>
              <a:t>清洗PDF、Word、Markdown等原始文档，去除页眉页脚、水印、乱码等干扰噪声，保证输入数据的纯净度。</a:t>
            </a:r>
            <a:endParaRPr lang="en-US" sz="1100"/>
          </a:p>
        </p:txBody>
      </p:sp>
      <p:sp>
        <p:nvSpPr>
          <p:cNvPr name="AutoShape 9" id="9"/>
          <p:cNvSpPr/>
          <p:nvPr/>
        </p:nvSpPr>
        <p:spPr>
          <a:xfrm rot="0" flipH="false" flipV="false">
            <a:off x="3467100" y="2032000"/>
            <a:ext cx="2540000" cy="3302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467100" y="2032000"/>
            <a:ext cx="2540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657600" y="22860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ADE80"/>
                </a:solidFill>
                <a:latin typeface="Noto Sans SC"/>
                <a:ea typeface="Noto Sans SC"/>
                <a:cs typeface="Noto Sans SC"/>
                <a:sym typeface="Noto Sans SC"/>
              </a:rPr>
              <a:t>02</a:t>
            </a:r>
            <a:endParaRPr lang="en-US" sz="1100"/>
          </a:p>
        </p:txBody>
      </p:sp>
      <p:cxnSp>
        <p:nvCxnSpPr>
          <p:cNvPr name="Connector 12" id="12"/>
          <p:cNvCxnSpPr/>
          <p:nvPr/>
        </p:nvCxnSpPr>
        <p:spPr>
          <a:xfrm rot="-20221" flipH="false" flipV="false">
            <a:off x="3657619" y="3041650"/>
            <a:ext cx="215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3657600" y="3302000"/>
            <a:ext cx="215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文本分块 (Chunking)</a:t>
            </a:r>
            <a:endParaRPr lang="en-US" sz="1100"/>
          </a:p>
        </p:txBody>
      </p:sp>
      <p:sp>
        <p:nvSpPr>
          <p:cNvPr name="AutoShape 14" id="14"/>
          <p:cNvSpPr/>
          <p:nvPr/>
        </p:nvSpPr>
        <p:spPr>
          <a:xfrm rot="0" flipH="false" flipV="false">
            <a:off x="3657600" y="4064000"/>
            <a:ext cx="215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0000"/>
                  </a:srgbClr>
                </a:solidFill>
                <a:latin typeface="Noto Sans SC"/>
                <a:ea typeface="Noto Sans SC"/>
                <a:cs typeface="Noto Sans SC"/>
                <a:sym typeface="Noto Sans SC"/>
              </a:rPr>
              <a:t>将长文档切割为语义完整的片段，采用固定字符、语义分块或10%-20%重叠窗口策略，适配模型上下文长度。</a:t>
            </a:r>
            <a:endParaRPr lang="en-US" sz="1100"/>
          </a:p>
        </p:txBody>
      </p:sp>
      <p:sp>
        <p:nvSpPr>
          <p:cNvPr name="AutoShape 15" id="15"/>
          <p:cNvSpPr/>
          <p:nvPr/>
        </p:nvSpPr>
        <p:spPr>
          <a:xfrm rot="0" flipH="false" flipV="false">
            <a:off x="6172200" y="2032000"/>
            <a:ext cx="2540000" cy="3302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172200" y="2032000"/>
            <a:ext cx="2540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362700" y="22860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ADE80"/>
                </a:solidFill>
                <a:latin typeface="Noto Sans SC"/>
                <a:ea typeface="Noto Sans SC"/>
                <a:cs typeface="Noto Sans SC"/>
                <a:sym typeface="Noto Sans SC"/>
              </a:rPr>
              <a:t>03</a:t>
            </a:r>
            <a:endParaRPr lang="en-US" sz="1100"/>
          </a:p>
        </p:txBody>
      </p:sp>
      <p:cxnSp>
        <p:nvCxnSpPr>
          <p:cNvPr name="Connector 18" id="18"/>
          <p:cNvCxnSpPr/>
          <p:nvPr/>
        </p:nvCxnSpPr>
        <p:spPr>
          <a:xfrm rot="-20221" flipH="false" flipV="false">
            <a:off x="6362719" y="3041650"/>
            <a:ext cx="215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9" id="19"/>
          <p:cNvSpPr/>
          <p:nvPr/>
        </p:nvSpPr>
        <p:spPr>
          <a:xfrm rot="0" flipH="false" flipV="false">
            <a:off x="6362700" y="3302000"/>
            <a:ext cx="215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向量化存储</a:t>
            </a:r>
            <a:endParaRPr lang="en-US" sz="1100"/>
          </a:p>
        </p:txBody>
      </p:sp>
      <p:sp>
        <p:nvSpPr>
          <p:cNvPr name="AutoShape 20" id="20"/>
          <p:cNvSpPr/>
          <p:nvPr/>
        </p:nvSpPr>
        <p:spPr>
          <a:xfrm rot="0" flipH="false" flipV="false">
            <a:off x="6362700" y="4064000"/>
            <a:ext cx="215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0000"/>
                  </a:srgbClr>
                </a:solidFill>
                <a:latin typeface="Noto Sans SC"/>
                <a:ea typeface="Noto Sans SC"/>
                <a:cs typeface="Noto Sans SC"/>
                <a:sym typeface="Noto Sans SC"/>
              </a:rPr>
              <a:t>调用Embedding模型将文本块转化为高维向量，写入向量数据库并建立高效索引，为后续检索提供基础。</a:t>
            </a:r>
            <a:endParaRPr lang="en-US" sz="1100"/>
          </a:p>
        </p:txBody>
      </p:sp>
      <p:sp>
        <p:nvSpPr>
          <p:cNvPr name="AutoShape 21" id="21"/>
          <p:cNvSpPr/>
          <p:nvPr/>
        </p:nvSpPr>
        <p:spPr>
          <a:xfrm rot="0" flipH="false" flipV="false">
            <a:off x="8877300" y="2032000"/>
            <a:ext cx="2540000" cy="3302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8877300" y="2032000"/>
            <a:ext cx="2540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9067800" y="22860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ADE80"/>
                </a:solidFill>
                <a:latin typeface="Noto Sans SC"/>
                <a:ea typeface="Noto Sans SC"/>
                <a:cs typeface="Noto Sans SC"/>
                <a:sym typeface="Noto Sans SC"/>
              </a:rPr>
              <a:t>04</a:t>
            </a:r>
            <a:endParaRPr lang="en-US" sz="1100"/>
          </a:p>
        </p:txBody>
      </p:sp>
      <p:cxnSp>
        <p:nvCxnSpPr>
          <p:cNvPr name="Connector 24" id="24"/>
          <p:cNvCxnSpPr/>
          <p:nvPr/>
        </p:nvCxnSpPr>
        <p:spPr>
          <a:xfrm rot="-20221" flipH="false" flipV="false">
            <a:off x="9067819" y="3041650"/>
            <a:ext cx="215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5" id="25"/>
          <p:cNvSpPr/>
          <p:nvPr/>
        </p:nvSpPr>
        <p:spPr>
          <a:xfrm rot="0" flipH="false" flipV="false">
            <a:off x="9067800" y="3302000"/>
            <a:ext cx="215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检索+生成推理</a:t>
            </a:r>
            <a:endParaRPr lang="en-US" sz="1100"/>
          </a:p>
        </p:txBody>
      </p:sp>
      <p:sp>
        <p:nvSpPr>
          <p:cNvPr name="AutoShape 26" id="26"/>
          <p:cNvSpPr/>
          <p:nvPr/>
        </p:nvSpPr>
        <p:spPr>
          <a:xfrm rot="0" flipH="false" flipV="false">
            <a:off x="9067800" y="4064000"/>
            <a:ext cx="215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0000"/>
                  </a:srgbClr>
                </a:solidFill>
                <a:latin typeface="Noto Sans SC"/>
                <a:ea typeface="Noto Sans SC"/>
                <a:cs typeface="Noto Sans SC"/>
                <a:sym typeface="Noto Sans SC"/>
              </a:rPr>
              <a:t>用户问题向量化后检索Top-N相似文本，将检索片段、问题与Prompt拼接，送入LLM生成准确、有据可依的答案。</a:t>
            </a:r>
            <a:endParaRPr lang="en-US" sz="1100"/>
          </a:p>
        </p:txBody>
      </p:sp>
      <p:sp>
        <p:nvSpPr>
          <p:cNvPr name="AutoShape 27" id="27"/>
          <p:cNvSpPr/>
          <p:nvPr/>
        </p:nvSpPr>
        <p:spPr>
          <a:xfrm rot="0" flipH="false" flipV="false">
            <a:off x="762000" y="5715000"/>
            <a:ext cx="10668000" cy="762000"/>
          </a:xfrm>
          <a:prstGeom prst="roundRect">
            <a:avLst>
              <a:gd name="adj" fmla="val 0"/>
            </a:avLst>
          </a:prstGeom>
          <a:solidFill>
            <a:srgbClr val="4ADE80">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5880100"/>
            <a:ext cx="431800" cy="431800"/>
          </a:xfrm>
          <a:prstGeom prst="rect">
            <a:avLst/>
          </a:prstGeom>
        </p:spPr>
      </p:pic>
      <p:sp>
        <p:nvSpPr>
          <p:cNvPr name="AutoShape 29" id="29"/>
          <p:cNvSpPr/>
          <p:nvPr/>
        </p:nvSpPr>
        <p:spPr>
          <a:xfrm rot="0" flipH="false" flipV="false">
            <a:off x="1587500" y="58166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90196"/>
                  </a:srgbClr>
                </a:solidFill>
                <a:latin typeface="Noto Sans SC"/>
                <a:ea typeface="Noto Sans SC"/>
                <a:cs typeface="Noto Sans SC"/>
                <a:sym typeface="Noto Sans SC"/>
              </a:rPr>
              <a:t>流水线核心逻辑：通过预处理与分块保证数据质量，向量化存储构建知识库，最后利用检索增强生成，大幅提升LLM回答的准确性与时效性。</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D2D2D">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RAG与微调（Fine-tune）对比</a:t>
            </a:r>
            <a:endParaRPr lang="en-US" sz="1100"/>
          </a:p>
        </p:txBody>
      </p:sp>
      <p:sp>
        <p:nvSpPr>
          <p:cNvPr name="AutoShape 3" id="3"/>
          <p:cNvSpPr/>
          <p:nvPr/>
        </p:nvSpPr>
        <p:spPr>
          <a:xfrm rot="0" flipH="false" flipV="false">
            <a:off x="762000" y="1905000"/>
            <a:ext cx="5270500" cy="3175000"/>
          </a:xfrm>
          <a:prstGeom prst="roundRect">
            <a:avLst>
              <a:gd name="adj" fmla="val 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905000"/>
            <a:ext cx="5270500" cy="609600"/>
          </a:xfrm>
          <a:prstGeom prst="roundRect">
            <a:avLst>
              <a:gd name="adj" fmla="val 0"/>
            </a:avLst>
          </a:prstGeom>
          <a:solidFill>
            <a:srgbClr val="00E676">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2006600"/>
            <a:ext cx="4889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0E676"/>
                </a:solidFill>
                <a:latin typeface="Noto Sans SC"/>
                <a:ea typeface="Noto Sans SC"/>
                <a:cs typeface="Noto Sans SC"/>
                <a:sym typeface="Noto Sans SC"/>
              </a:rPr>
              <a:t>RAG（检索增强生成）方案</a:t>
            </a:r>
            <a:endParaRPr lang="en-US" sz="1100"/>
          </a:p>
        </p:txBody>
      </p:sp>
      <p:cxnSp>
        <p:nvCxnSpPr>
          <p:cNvPr name="Connector 6" id="6"/>
          <p:cNvCxnSpPr/>
          <p:nvPr/>
        </p:nvCxnSpPr>
        <p:spPr>
          <a:xfrm rot="-8929" flipH="false" flipV="false">
            <a:off x="952508" y="2724150"/>
            <a:ext cx="48895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2984500"/>
            <a:ext cx="279400" cy="279400"/>
          </a:xfrm>
          <a:prstGeom prst="rect">
            <a:avLst/>
          </a:prstGeom>
        </p:spPr>
      </p:pic>
      <p:sp>
        <p:nvSpPr>
          <p:cNvPr name="AutoShape 8" id="8"/>
          <p:cNvSpPr/>
          <p:nvPr/>
        </p:nvSpPr>
        <p:spPr>
          <a:xfrm rot="0" flipH="false" flipV="false">
            <a:off x="1397000" y="2946400"/>
            <a:ext cx="444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90196"/>
                  </a:srgbClr>
                </a:solidFill>
                <a:latin typeface="Noto Sans SC"/>
                <a:ea typeface="Noto Sans SC"/>
                <a:cs typeface="Noto Sans SC"/>
                <a:sym typeface="Noto Sans SC"/>
              </a:rPr>
              <a:t>适用私有文档高频更新、多领域知识库及中等规模数据场景，适配灵活多变的信息需求。</a:t>
            </a:r>
            <a:endParaRPr lang="en-US" sz="1100"/>
          </a:p>
        </p:txBody>
      </p:sp>
      <p:cxnSp>
        <p:nvCxnSpPr>
          <p:cNvPr name="Connector 9" id="9"/>
          <p:cNvCxnSpPr/>
          <p:nvPr/>
        </p:nvCxnSpPr>
        <p:spPr>
          <a:xfrm rot="-8929" flipH="false" flipV="false">
            <a:off x="952508" y="3803650"/>
            <a:ext cx="4889500" cy="12700"/>
          </a:xfrm>
          <a:prstGeom prst="straightConnector1">
            <a:avLst/>
          </a:prstGeom>
          <a:solidFill>
            <a:srgbClr val="DEE0E3">
              <a:alpha val="100000"/>
            </a:srgbClr>
          </a:solidFill>
          <a:ln w="12700" cmpd="sng" cap="flat">
            <a:solidFill>
              <a:srgbClr val="FFFFFF">
                <a:alpha val="10000"/>
              </a:srgbClr>
            </a:solidFill>
            <a:prstDash val="dash"/>
            <a:round/>
            <a:headEnd type="none" w="med" len="med"/>
            <a:tailEnd type="none" w="med" len="med"/>
          </a:ln>
        </p:spPr>
      </p:cxnSp>
      <p:sp>
        <p:nvSpPr>
          <p:cNvPr name="AutoShape 10" id="10"/>
          <p:cNvSpPr/>
          <p:nvPr/>
        </p:nvSpPr>
        <p:spPr>
          <a:xfrm rot="0" flipH="false" flipV="false">
            <a:off x="952500" y="3937000"/>
            <a:ext cx="234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E676"/>
                </a:solidFill>
                <a:latin typeface="Noto Sans SC"/>
                <a:ea typeface="Noto Sans SC"/>
                <a:cs typeface="Noto Sans SC"/>
                <a:sym typeface="Noto Sans SC"/>
              </a:rPr>
              <a:t>低成本 · 易更新</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FFFFFF">
                    <a:alpha val="70196"/>
                  </a:srgbClr>
                </a:solidFill>
                <a:latin typeface="Noto Sans SC"/>
                <a:ea typeface="Noto Sans SC"/>
                <a:cs typeface="Noto Sans SC"/>
                <a:sym typeface="Noto Sans SC"/>
              </a:rPr>
              <a:t>无需昂贵训练算力，新增文档直接入库即可生效，维护门槛极低。</a:t>
            </a:r>
          </a:p>
        </p:txBody>
      </p:sp>
      <p:cxnSp>
        <p:nvCxnSpPr>
          <p:cNvPr name="Connector 11" id="11"/>
          <p:cNvCxnSpPr/>
          <p:nvPr/>
        </p:nvCxnSpPr>
        <p:spPr>
          <a:xfrm rot="5350892" flipH="false" flipV="false">
            <a:off x="2921000" y="4438695"/>
            <a:ext cx="88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2" id="12"/>
          <p:cNvSpPr/>
          <p:nvPr/>
        </p:nvSpPr>
        <p:spPr>
          <a:xfrm rot="0" flipH="false" flipV="false">
            <a:off x="3492500" y="3937000"/>
            <a:ext cx="234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E676"/>
                </a:solidFill>
                <a:latin typeface="Noto Sans SC"/>
                <a:ea typeface="Noto Sans SC"/>
                <a:cs typeface="Noto Sans SC"/>
                <a:sym typeface="Noto Sans SC"/>
              </a:rPr>
              <a:t>强幻觉控制</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FFFFFF">
                    <a:alpha val="70196"/>
                  </a:srgbClr>
                </a:solidFill>
                <a:latin typeface="Noto Sans SC"/>
                <a:ea typeface="Noto Sans SC"/>
                <a:cs typeface="Noto Sans SC"/>
                <a:sym typeface="Noto Sans SC"/>
              </a:rPr>
              <a:t>答案严格绑定原文引用，可追溯来源，大幅降低模型生成虚假信息的风险。</a:t>
            </a:r>
          </a:p>
        </p:txBody>
      </p:sp>
      <p:sp>
        <p:nvSpPr>
          <p:cNvPr name="AutoShape 13" id="13"/>
          <p:cNvSpPr/>
          <p:nvPr/>
        </p:nvSpPr>
        <p:spPr>
          <a:xfrm rot="0" flipH="false" flipV="false">
            <a:off x="6159500" y="1905000"/>
            <a:ext cx="5270500" cy="3175000"/>
          </a:xfrm>
          <a:prstGeom prst="roundRect">
            <a:avLst>
              <a:gd name="adj" fmla="val 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159500" y="1905000"/>
            <a:ext cx="5270500" cy="6096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350000" y="2006600"/>
            <a:ext cx="4889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5E7EB"/>
                </a:solidFill>
                <a:latin typeface="Noto Sans SC"/>
                <a:ea typeface="Noto Sans SC"/>
                <a:cs typeface="Noto Sans SC"/>
                <a:sym typeface="Noto Sans SC"/>
              </a:rPr>
              <a:t>微调（Fine-tune）方案</a:t>
            </a:r>
            <a:endParaRPr lang="en-US" sz="1100"/>
          </a:p>
        </p:txBody>
      </p:sp>
      <p:cxnSp>
        <p:nvCxnSpPr>
          <p:cNvPr name="Connector 16" id="16"/>
          <p:cNvCxnSpPr/>
          <p:nvPr/>
        </p:nvCxnSpPr>
        <p:spPr>
          <a:xfrm rot="-8929" flipH="false" flipV="false">
            <a:off x="6350008" y="2724150"/>
            <a:ext cx="48895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pic>
        <p:nvPicPr>
          <p:cNvPr name="Picture 17" id="1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0" y="2984500"/>
            <a:ext cx="279400" cy="279400"/>
          </a:xfrm>
          <a:prstGeom prst="rect">
            <a:avLst/>
          </a:prstGeom>
        </p:spPr>
      </p:pic>
      <p:sp>
        <p:nvSpPr>
          <p:cNvPr name="AutoShape 18" id="18"/>
          <p:cNvSpPr/>
          <p:nvPr/>
        </p:nvSpPr>
        <p:spPr>
          <a:xfrm rot="0" flipH="false" flipV="false">
            <a:off x="6794500" y="2946400"/>
            <a:ext cx="444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90196"/>
                  </a:srgbClr>
                </a:solidFill>
                <a:latin typeface="Noto Sans SC"/>
                <a:ea typeface="Noto Sans SC"/>
                <a:cs typeface="Noto Sans SC"/>
                <a:sym typeface="Noto Sans SC"/>
              </a:rPr>
              <a:t>适用于固定领域专业术语规范、统一输出风格，或拥有海量同质训练数据的场景。</a:t>
            </a:r>
            <a:endParaRPr lang="en-US" sz="1100"/>
          </a:p>
        </p:txBody>
      </p:sp>
      <p:cxnSp>
        <p:nvCxnSpPr>
          <p:cNvPr name="Connector 19" id="19"/>
          <p:cNvCxnSpPr/>
          <p:nvPr/>
        </p:nvCxnSpPr>
        <p:spPr>
          <a:xfrm rot="-8929" flipH="false" flipV="false">
            <a:off x="6350008" y="3803650"/>
            <a:ext cx="4889500" cy="12700"/>
          </a:xfrm>
          <a:prstGeom prst="straightConnector1">
            <a:avLst/>
          </a:prstGeom>
          <a:solidFill>
            <a:srgbClr val="DEE0E3">
              <a:alpha val="100000"/>
            </a:srgbClr>
          </a:solidFill>
          <a:ln w="12700" cmpd="sng" cap="flat">
            <a:solidFill>
              <a:srgbClr val="FFFFFF">
                <a:alpha val="10000"/>
              </a:srgbClr>
            </a:solidFill>
            <a:prstDash val="dash"/>
            <a:round/>
            <a:headEnd type="none" w="med" len="med"/>
            <a:tailEnd type="none" w="med" len="med"/>
          </a:ln>
        </p:spPr>
      </p:cxnSp>
      <p:sp>
        <p:nvSpPr>
          <p:cNvPr name="AutoShape 20" id="20"/>
          <p:cNvSpPr/>
          <p:nvPr/>
        </p:nvSpPr>
        <p:spPr>
          <a:xfrm rot="0" flipH="false" flipV="false">
            <a:off x="6350000" y="3937000"/>
            <a:ext cx="234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59E0B"/>
                </a:solidFill>
                <a:latin typeface="Noto Sans SC"/>
                <a:ea typeface="Noto Sans SC"/>
                <a:cs typeface="Noto Sans SC"/>
                <a:sym typeface="Noto Sans SC"/>
              </a:rPr>
              <a:t>高成本 · 更新难</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FFFFFF">
                    <a:alpha val="70196"/>
                  </a:srgbClr>
                </a:solidFill>
                <a:latin typeface="Noto Sans SC"/>
                <a:ea typeface="Noto Sans SC"/>
                <a:cs typeface="Noto Sans SC"/>
                <a:sym typeface="Noto Sans SC"/>
              </a:rPr>
              <a:t>依赖GPU集群训练，时间周期长；新增知识需重新全量训练，迭代成本高昂。</a:t>
            </a:r>
          </a:p>
        </p:txBody>
      </p:sp>
      <p:cxnSp>
        <p:nvCxnSpPr>
          <p:cNvPr name="Connector 21" id="21"/>
          <p:cNvCxnSpPr/>
          <p:nvPr/>
        </p:nvCxnSpPr>
        <p:spPr>
          <a:xfrm rot="5350892" flipH="false" flipV="false">
            <a:off x="8318500" y="4438695"/>
            <a:ext cx="889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2" id="22"/>
          <p:cNvSpPr/>
          <p:nvPr/>
        </p:nvSpPr>
        <p:spPr>
          <a:xfrm rot="0" flipH="false" flipV="false">
            <a:off x="8890000" y="3937000"/>
            <a:ext cx="234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59E0B"/>
                </a:solidFill>
                <a:latin typeface="Noto Sans SC"/>
                <a:ea typeface="Noto Sans SC"/>
                <a:cs typeface="Noto Sans SC"/>
                <a:sym typeface="Noto Sans SC"/>
              </a:rPr>
              <a:t>幻觉风险较高</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FFFFFF">
                    <a:alpha val="70196"/>
                  </a:srgbClr>
                </a:solidFill>
                <a:latin typeface="Noto Sans SC"/>
                <a:ea typeface="Noto Sans SC"/>
                <a:cs typeface="Noto Sans SC"/>
                <a:sym typeface="Noto Sans SC"/>
              </a:rPr>
              <a:t>模型基于参数记忆生成内容，无法完全杜绝编造信息，且错误难以追溯和修正。</a:t>
            </a:r>
          </a:p>
        </p:txBody>
      </p:sp>
      <p:sp>
        <p:nvSpPr>
          <p:cNvPr name="AutoShape 23" id="23"/>
          <p:cNvSpPr/>
          <p:nvPr/>
        </p:nvSpPr>
        <p:spPr>
          <a:xfrm rot="0" flipH="false" flipV="false">
            <a:off x="762000" y="5461000"/>
            <a:ext cx="10668000" cy="952500"/>
          </a:xfrm>
          <a:prstGeom prst="roundRect">
            <a:avLst>
              <a:gd name="adj" fmla="val 0"/>
            </a:avLst>
          </a:prstGeom>
          <a:solidFill>
            <a:srgbClr val="00E67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762000" y="5461000"/>
            <a:ext cx="76200" cy="952500"/>
          </a:xfrm>
          <a:prstGeom prst="roundRect">
            <a:avLst>
              <a:gd name="adj" fmla="val 0"/>
            </a:avLst>
          </a:prstGeom>
          <a:solidFill>
            <a:srgbClr val="00E6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1016000" y="55626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FFFFFF"/>
                </a:solidFill>
                <a:latin typeface="Noto Sans SC"/>
                <a:ea typeface="Noto Sans SC"/>
                <a:cs typeface="Noto Sans SC"/>
                <a:sym typeface="Noto Sans SC"/>
              </a:rPr>
              <a:t>核心结论：RAG是解决</a:t>
            </a:r>
            <a:r>
              <a:rPr lang="en-US" b="true" i="false" strike="noStrike" u="none" sz="1600">
                <a:solidFill>
                  <a:srgbClr val="00E676"/>
                </a:solidFill>
                <a:latin typeface="Noto Sans SC"/>
                <a:ea typeface="Noto Sans SC"/>
                <a:cs typeface="Noto Sans SC"/>
                <a:sym typeface="Noto Sans SC"/>
              </a:rPr>
              <a:t>知识时效性</a:t>
            </a:r>
            <a:r>
              <a:rPr lang="en-US" b="false" i="false" strike="noStrike" u="none" sz="1600">
                <a:solidFill>
                  <a:srgbClr val="FFFFFF"/>
                </a:solidFill>
                <a:latin typeface="Noto Sans SC"/>
                <a:ea typeface="Noto Sans SC"/>
                <a:cs typeface="Noto Sans SC"/>
                <a:sym typeface="Noto Sans SC"/>
              </a:rPr>
              <a:t>和</a:t>
            </a:r>
            <a:r>
              <a:rPr lang="en-US" b="true" i="false" strike="noStrike" u="none" sz="1600">
                <a:solidFill>
                  <a:srgbClr val="00E676"/>
                </a:solidFill>
                <a:latin typeface="Noto Sans SC"/>
                <a:ea typeface="Noto Sans SC"/>
                <a:cs typeface="Noto Sans SC"/>
                <a:sym typeface="Noto Sans SC"/>
              </a:rPr>
              <a:t>私有数据访问</a:t>
            </a:r>
            <a:r>
              <a:rPr lang="en-US" b="false" i="false" strike="noStrike" u="none" sz="1600">
                <a:solidFill>
                  <a:srgbClr val="FFFFFF"/>
                </a:solidFill>
                <a:latin typeface="Noto Sans SC"/>
                <a:ea typeface="Noto Sans SC"/>
                <a:cs typeface="Noto Sans SC"/>
                <a:sym typeface="Noto Sans SC"/>
              </a:rPr>
              <a:t>问题的</a:t>
            </a:r>
            <a:r>
              <a:rPr lang="en-US" b="true" i="false" strike="noStrike" u="none" sz="1600">
                <a:solidFill>
                  <a:srgbClr val="00E676"/>
                </a:solidFill>
                <a:latin typeface="Noto Sans SC"/>
                <a:ea typeface="Noto Sans SC"/>
                <a:cs typeface="Noto Sans SC"/>
                <a:sym typeface="Noto Sans SC"/>
              </a:rPr>
              <a:t>轻量级、低成本</a:t>
            </a:r>
            <a:r>
              <a:rPr lang="en-US" b="false" i="false" strike="noStrike" u="none" sz="1600">
                <a:solidFill>
                  <a:srgbClr val="FFFFFF"/>
                </a:solidFill>
                <a:latin typeface="Noto Sans SC"/>
                <a:ea typeface="Noto Sans SC"/>
                <a:cs typeface="Noto Sans SC"/>
                <a:sym typeface="Noto Sans SC"/>
              </a:rPr>
              <a:t>首选方案，在多数外部知识库连接场景中具备更高的实用价值。</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C1C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1016000"/>
            <a:ext cx="4064000" cy="4064000"/>
          </a:xfrm>
          <a:prstGeom prst="ellipse">
            <a:avLst/>
          </a:prstGeom>
          <a:solidFill>
            <a:srgbClr val="4ADE80">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144000" y="4318000"/>
            <a:ext cx="4572000" cy="4572000"/>
          </a:xfrm>
          <a:prstGeom prst="ellipse">
            <a:avLst/>
          </a:prstGeom>
          <a:solidFill>
            <a:srgbClr val="4ADE80">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032000"/>
            <a:ext cx="12192000" cy="228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0">
                <a:solidFill>
                  <a:srgbClr val="4ADE80">
                    <a:alpha val="90196"/>
                  </a:srgbClr>
                </a:solidFill>
                <a:latin typeface="Noto Sans SC"/>
                <a:ea typeface="Noto Sans SC"/>
                <a:cs typeface="Noto Sans SC"/>
                <a:sym typeface="Noto Sans SC"/>
              </a:rPr>
              <a:t>02</a:t>
            </a:r>
            <a:endParaRPr lang="en-US" sz="1100"/>
          </a:p>
        </p:txBody>
      </p:sp>
      <p:cxnSp>
        <p:nvCxnSpPr>
          <p:cNvPr name="Connector 5" id="5"/>
          <p:cNvCxnSpPr/>
          <p:nvPr/>
        </p:nvCxnSpPr>
        <p:spPr>
          <a:xfrm rot="-11459" flipH="false" flipV="false">
            <a:off x="4191011" y="4565650"/>
            <a:ext cx="3810000" cy="12700"/>
          </a:xfrm>
          <a:prstGeom prst="straightConnector1">
            <a:avLst/>
          </a:prstGeom>
          <a:solidFill>
            <a:srgbClr val="DEE0E3">
              <a:alpha val="100000"/>
            </a:srgbClr>
          </a:solidFill>
          <a:ln w="25400" cmpd="sng" cap="flat">
            <a:solidFill>
              <a:srgbClr val="4ADE80">
                <a:alpha val="50000"/>
              </a:srgbClr>
            </a:solidFill>
            <a:prstDash val="solid"/>
            <a:round/>
            <a:headEnd type="none" w="lg" len="lg"/>
            <a:tailEnd type="none" w="lg" len="lg"/>
          </a:ln>
        </p:spPr>
      </p:cxnSp>
      <p:sp>
        <p:nvSpPr>
          <p:cNvPr name="AutoShape 6" id="6"/>
          <p:cNvSpPr/>
          <p:nvPr/>
        </p:nvSpPr>
        <p:spPr>
          <a:xfrm rot="0" flipH="false" flipV="false">
            <a:off x="0" y="4953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FFFFFF"/>
                </a:solidFill>
                <a:latin typeface="Noto Sans SC"/>
                <a:ea typeface="Noto Sans SC"/>
                <a:cs typeface="Noto Sans SC"/>
                <a:sym typeface="Noto Sans SC"/>
              </a:rPr>
              <a:t>向量数据库工程实操</a:t>
            </a:r>
            <a:endParaRPr lang="en-US" sz="1100"/>
          </a:p>
        </p:txBody>
      </p:sp>
      <p:sp>
        <p:nvSpPr>
          <p:cNvPr name="AutoShape 7" id="7"/>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false" i="false" strike="noStrike" u="none" sz="1400">
                <a:solidFill>
                  <a:srgbClr val="FFFFFF">
                    <a:alpha val="60000"/>
                  </a:srgbClr>
                </a:solidFill>
                <a:latin typeface="Noto Sans SC"/>
                <a:ea typeface="Noto Sans SC"/>
                <a:cs typeface="Noto Sans SC"/>
                <a:sym typeface="Noto Sans SC"/>
              </a:rPr>
              <a:t>从理论走向落地，选型、索引与检索优化的核心工程实践指南</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2B2B2B">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主流向量数据库选型</a:t>
            </a:r>
            <a:endParaRPr lang="en-US" sz="1100"/>
          </a:p>
        </p:txBody>
      </p:sp>
      <p:sp>
        <p:nvSpPr>
          <p:cNvPr name="AutoShape 3" id="3"/>
          <p:cNvSpPr/>
          <p:nvPr/>
        </p:nvSpPr>
        <p:spPr>
          <a:xfrm rot="0" flipH="false" flipV="false">
            <a:off x="762000" y="1460500"/>
            <a:ext cx="10668000" cy="25400"/>
          </a:xfrm>
          <a:prstGeom prst="roundRect">
            <a:avLst>
              <a:gd name="adj" fmla="val 0"/>
            </a:avLst>
          </a:prstGeom>
          <a:solidFill>
            <a:srgbClr val="4ADE80">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032000"/>
            <a:ext cx="2540000" cy="3683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2540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2286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FFFFF"/>
                </a:solidFill>
                <a:latin typeface="Noto Sans SC"/>
                <a:ea typeface="Noto Sans SC"/>
                <a:cs typeface="Noto Sans SC"/>
                <a:sym typeface="Noto Sans SC"/>
              </a:rPr>
              <a:t>Milvus</a:t>
            </a:r>
            <a:endParaRPr lang="en-US" sz="1100"/>
          </a:p>
        </p:txBody>
      </p:sp>
      <p:cxnSp>
        <p:nvCxnSpPr>
          <p:cNvPr name="Connector 7" id="7"/>
          <p:cNvCxnSpPr/>
          <p:nvPr/>
        </p:nvCxnSpPr>
        <p:spPr>
          <a:xfrm rot="-19098" flipH="false" flipV="false">
            <a:off x="889018" y="3041650"/>
            <a:ext cx="2286000" cy="12700"/>
          </a:xfrm>
          <a:prstGeom prst="straightConnector1">
            <a:avLst/>
          </a:prstGeom>
          <a:solidFill>
            <a:srgbClr val="DEE0E3">
              <a:alpha val="100000"/>
            </a:srgbClr>
          </a:solidFill>
          <a:ln w="12700" cmpd="sng" cap="flat">
            <a:solidFill>
              <a:srgbClr val="FFFFFF">
                <a:alpha val="20000"/>
              </a:srgbClr>
            </a:solidFill>
            <a:prstDash val="dash"/>
            <a:round/>
            <a:headEnd type="none" w="med" len="med"/>
            <a:tailEnd type="none" w="med" len="med"/>
          </a:ln>
        </p:spPr>
      </p:cxnSp>
      <p:sp>
        <p:nvSpPr>
          <p:cNvPr name="AutoShape 8" id="8"/>
          <p:cNvSpPr/>
          <p:nvPr/>
        </p:nvSpPr>
        <p:spPr>
          <a:xfrm rot="0" flipH="false" flipV="false">
            <a:off x="889000" y="3302000"/>
            <a:ext cx="228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ADE80"/>
                </a:solidFill>
                <a:latin typeface="Noto Sans SC"/>
                <a:ea typeface="Noto Sans SC"/>
                <a:cs typeface="Noto Sans SC"/>
                <a:sym typeface="Noto Sans SC"/>
              </a:rPr>
              <a:t>开源分布式向量数据库</a:t>
            </a:r>
            <a:endParaRPr lang="en-US" sz="1100"/>
          </a:p>
        </p:txBody>
      </p:sp>
      <p:sp>
        <p:nvSpPr>
          <p:cNvPr name="AutoShape 9" id="9"/>
          <p:cNvSpPr/>
          <p:nvPr/>
        </p:nvSpPr>
        <p:spPr>
          <a:xfrm rot="0" flipH="false" flipV="false">
            <a:off x="889000" y="43180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80000"/>
                  </a:srgbClr>
                </a:solidFill>
                <a:latin typeface="Noto Sans SC"/>
                <a:ea typeface="Noto Sans SC"/>
                <a:cs typeface="Noto Sans SC"/>
                <a:sym typeface="Noto Sans SC"/>
              </a:rPr>
              <a:t>专为海量向量数据设计，支持亿级规模，提供完善的企业级部署能力与丰富功能。</a:t>
            </a:r>
            <a:endParaRPr lang="en-US" sz="1100"/>
          </a:p>
        </p:txBody>
      </p:sp>
      <p:sp>
        <p:nvSpPr>
          <p:cNvPr name="AutoShape 10" id="10"/>
          <p:cNvSpPr/>
          <p:nvPr/>
        </p:nvSpPr>
        <p:spPr>
          <a:xfrm rot="0" flipH="false" flipV="false">
            <a:off x="889000" y="5715000"/>
            <a:ext cx="2286000" cy="635000"/>
          </a:xfrm>
          <a:prstGeom prst="roundRect">
            <a:avLst>
              <a:gd name="adj" fmla="val 0"/>
            </a:avLst>
          </a:prstGeom>
          <a:solidFill>
            <a:srgbClr val="4ADE8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952500" y="57785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FFFFF"/>
                </a:solidFill>
                <a:latin typeface="Noto Sans SC"/>
                <a:ea typeface="Noto Sans SC"/>
                <a:cs typeface="Noto Sans SC"/>
                <a:sym typeface="Noto Sans SC"/>
              </a:rPr>
              <a:t>适用：</a:t>
            </a:r>
            <a:r>
              <a:rPr lang="en-US" b="false" i="false" strike="noStrike" u="none" sz="1200">
                <a:solidFill>
                  <a:srgbClr val="FFFFFF">
                    <a:alpha val="70196"/>
                  </a:srgbClr>
                </a:solidFill>
                <a:latin typeface="Noto Sans SC"/>
                <a:ea typeface="Noto Sans SC"/>
                <a:cs typeface="Noto Sans SC"/>
                <a:sym typeface="Noto Sans SC"/>
              </a:rPr>
              <a:t>大规模生产环境、企业级复杂业务场景</a:t>
            </a:r>
            <a:endParaRPr lang="en-US" sz="1100"/>
          </a:p>
        </p:txBody>
      </p:sp>
      <p:sp>
        <p:nvSpPr>
          <p:cNvPr name="AutoShape 12" id="12"/>
          <p:cNvSpPr/>
          <p:nvPr/>
        </p:nvSpPr>
        <p:spPr>
          <a:xfrm rot="0" flipH="false" flipV="false">
            <a:off x="3467100" y="2032000"/>
            <a:ext cx="2540000" cy="3683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3467100" y="2032000"/>
            <a:ext cx="2540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3594100" y="2286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FFFFF"/>
                </a:solidFill>
                <a:latin typeface="Noto Sans SC"/>
                <a:ea typeface="Noto Sans SC"/>
                <a:cs typeface="Noto Sans SC"/>
                <a:sym typeface="Noto Sans SC"/>
              </a:rPr>
              <a:t>Chroma</a:t>
            </a:r>
            <a:endParaRPr lang="en-US" sz="1100"/>
          </a:p>
        </p:txBody>
      </p:sp>
      <p:cxnSp>
        <p:nvCxnSpPr>
          <p:cNvPr name="Connector 15" id="15"/>
          <p:cNvCxnSpPr/>
          <p:nvPr/>
        </p:nvCxnSpPr>
        <p:spPr>
          <a:xfrm rot="-19098" flipH="false" flipV="false">
            <a:off x="3594118" y="3041650"/>
            <a:ext cx="2286000" cy="12700"/>
          </a:xfrm>
          <a:prstGeom prst="straightConnector1">
            <a:avLst/>
          </a:prstGeom>
          <a:solidFill>
            <a:srgbClr val="DEE0E3">
              <a:alpha val="100000"/>
            </a:srgbClr>
          </a:solidFill>
          <a:ln w="12700" cmpd="sng" cap="flat">
            <a:solidFill>
              <a:srgbClr val="FFFFFF">
                <a:alpha val="20000"/>
              </a:srgbClr>
            </a:solidFill>
            <a:prstDash val="dash"/>
            <a:round/>
            <a:headEnd type="none" w="med" len="med"/>
            <a:tailEnd type="none" w="med" len="med"/>
          </a:ln>
        </p:spPr>
      </p:cxnSp>
      <p:sp>
        <p:nvSpPr>
          <p:cNvPr name="AutoShape 16" id="16"/>
          <p:cNvSpPr/>
          <p:nvPr/>
        </p:nvSpPr>
        <p:spPr>
          <a:xfrm rot="0" flipH="false" flipV="false">
            <a:off x="3594100" y="3302000"/>
            <a:ext cx="228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ADE80"/>
                </a:solidFill>
                <a:latin typeface="Noto Sans SC"/>
                <a:ea typeface="Noto Sans SC"/>
                <a:cs typeface="Noto Sans SC"/>
                <a:sym typeface="Noto Sans SC"/>
              </a:rPr>
              <a:t>轻量级本地嵌入式库</a:t>
            </a:r>
            <a:endParaRPr lang="en-US" sz="1100"/>
          </a:p>
        </p:txBody>
      </p:sp>
      <p:sp>
        <p:nvSpPr>
          <p:cNvPr name="AutoShape 17" id="17"/>
          <p:cNvSpPr/>
          <p:nvPr/>
        </p:nvSpPr>
        <p:spPr>
          <a:xfrm rot="0" flipH="false" flipV="false">
            <a:off x="3594100" y="43180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80000"/>
                  </a:srgbClr>
                </a:solidFill>
                <a:latin typeface="Noto Sans SC"/>
                <a:ea typeface="Noto Sans SC"/>
                <a:cs typeface="Noto Sans SC"/>
                <a:sym typeface="Noto Sans SC"/>
              </a:rPr>
              <a:t>纯Python编写，无需复杂配置，开箱即用，无外部服务依赖，上手门槛极低。</a:t>
            </a:r>
            <a:endParaRPr lang="en-US" sz="1100"/>
          </a:p>
        </p:txBody>
      </p:sp>
      <p:sp>
        <p:nvSpPr>
          <p:cNvPr name="AutoShape 18" id="18"/>
          <p:cNvSpPr/>
          <p:nvPr/>
        </p:nvSpPr>
        <p:spPr>
          <a:xfrm rot="0" flipH="false" flipV="false">
            <a:off x="3594100" y="5715000"/>
            <a:ext cx="2286000" cy="635000"/>
          </a:xfrm>
          <a:prstGeom prst="roundRect">
            <a:avLst>
              <a:gd name="adj" fmla="val 0"/>
            </a:avLst>
          </a:prstGeom>
          <a:solidFill>
            <a:srgbClr val="4ADE8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3657600" y="57785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FFFFF"/>
                </a:solidFill>
                <a:latin typeface="Noto Sans SC"/>
                <a:ea typeface="Noto Sans SC"/>
                <a:cs typeface="Noto Sans SC"/>
                <a:sym typeface="Noto Sans SC"/>
              </a:rPr>
              <a:t>适用：</a:t>
            </a:r>
            <a:r>
              <a:rPr lang="en-US" b="false" i="false" strike="noStrike" u="none" sz="1200">
                <a:solidFill>
                  <a:srgbClr val="FFFFFF">
                    <a:alpha val="70196"/>
                  </a:srgbClr>
                </a:solidFill>
                <a:latin typeface="Noto Sans SC"/>
                <a:ea typeface="Noto Sans SC"/>
                <a:cs typeface="Noto Sans SC"/>
                <a:sym typeface="Noto Sans SC"/>
              </a:rPr>
              <a:t>本地功能验证、应用开发调试、小型项目</a:t>
            </a:r>
            <a:endParaRPr lang="en-US" sz="1100"/>
          </a:p>
        </p:txBody>
      </p:sp>
      <p:sp>
        <p:nvSpPr>
          <p:cNvPr name="AutoShape 20" id="20"/>
          <p:cNvSpPr/>
          <p:nvPr/>
        </p:nvSpPr>
        <p:spPr>
          <a:xfrm rot="0" flipH="false" flipV="false">
            <a:off x="6172200" y="2032000"/>
            <a:ext cx="2540000" cy="3683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172200" y="2032000"/>
            <a:ext cx="2540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299200" y="2286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FFFFF"/>
                </a:solidFill>
                <a:latin typeface="Noto Sans SC"/>
                <a:ea typeface="Noto Sans SC"/>
                <a:cs typeface="Noto Sans SC"/>
                <a:sym typeface="Noto Sans SC"/>
              </a:rPr>
              <a:t>FAISS</a:t>
            </a:r>
            <a:endParaRPr lang="en-US" sz="1100"/>
          </a:p>
        </p:txBody>
      </p:sp>
      <p:cxnSp>
        <p:nvCxnSpPr>
          <p:cNvPr name="Connector 23" id="23"/>
          <p:cNvCxnSpPr/>
          <p:nvPr/>
        </p:nvCxnSpPr>
        <p:spPr>
          <a:xfrm rot="-19098" flipH="false" flipV="false">
            <a:off x="6299218" y="3041650"/>
            <a:ext cx="2286000" cy="12700"/>
          </a:xfrm>
          <a:prstGeom prst="straightConnector1">
            <a:avLst/>
          </a:prstGeom>
          <a:solidFill>
            <a:srgbClr val="DEE0E3">
              <a:alpha val="100000"/>
            </a:srgbClr>
          </a:solidFill>
          <a:ln w="12700" cmpd="sng" cap="flat">
            <a:solidFill>
              <a:srgbClr val="FFFFFF">
                <a:alpha val="20000"/>
              </a:srgbClr>
            </a:solidFill>
            <a:prstDash val="dash"/>
            <a:round/>
            <a:headEnd type="none" w="med" len="med"/>
            <a:tailEnd type="none" w="med" len="med"/>
          </a:ln>
        </p:spPr>
      </p:cxnSp>
      <p:sp>
        <p:nvSpPr>
          <p:cNvPr name="AutoShape 24" id="24"/>
          <p:cNvSpPr/>
          <p:nvPr/>
        </p:nvSpPr>
        <p:spPr>
          <a:xfrm rot="0" flipH="false" flipV="false">
            <a:off x="6299200" y="3302000"/>
            <a:ext cx="228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ADE80"/>
                </a:solidFill>
                <a:latin typeface="Noto Sans SC"/>
                <a:ea typeface="Noto Sans SC"/>
                <a:cs typeface="Noto Sans SC"/>
                <a:sym typeface="Noto Sans SC"/>
              </a:rPr>
              <a:t>高性能开源检索库</a:t>
            </a:r>
            <a:endParaRPr lang="en-US" sz="1100"/>
          </a:p>
        </p:txBody>
      </p:sp>
      <p:sp>
        <p:nvSpPr>
          <p:cNvPr name="AutoShape 25" id="25"/>
          <p:cNvSpPr/>
          <p:nvPr/>
        </p:nvSpPr>
        <p:spPr>
          <a:xfrm rot="0" flipH="false" flipV="false">
            <a:off x="6299200" y="43180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80000"/>
                  </a:srgbClr>
                </a:solidFill>
                <a:latin typeface="Noto Sans SC"/>
                <a:ea typeface="Noto Sans SC"/>
                <a:cs typeface="Noto Sans SC"/>
                <a:sym typeface="Noto Sans SC"/>
              </a:rPr>
              <a:t>由Meta开源，核心优势是极致的检索速度，但仅为算法库，无原生持久化存储能力。</a:t>
            </a:r>
            <a:endParaRPr lang="en-US" sz="1100"/>
          </a:p>
        </p:txBody>
      </p:sp>
      <p:sp>
        <p:nvSpPr>
          <p:cNvPr name="AutoShape 26" id="26"/>
          <p:cNvSpPr/>
          <p:nvPr/>
        </p:nvSpPr>
        <p:spPr>
          <a:xfrm rot="0" flipH="false" flipV="false">
            <a:off x="6299200" y="5715000"/>
            <a:ext cx="2286000" cy="635000"/>
          </a:xfrm>
          <a:prstGeom prst="roundRect">
            <a:avLst>
              <a:gd name="adj" fmla="val 0"/>
            </a:avLst>
          </a:prstGeom>
          <a:solidFill>
            <a:srgbClr val="4ADE8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6362700" y="57785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FFFFF"/>
                </a:solidFill>
                <a:latin typeface="Noto Sans SC"/>
                <a:ea typeface="Noto Sans SC"/>
                <a:cs typeface="Noto Sans SC"/>
                <a:sym typeface="Noto Sans SC"/>
              </a:rPr>
              <a:t>适用：</a:t>
            </a:r>
            <a:r>
              <a:rPr lang="en-US" b="false" i="false" strike="noStrike" u="none" sz="1200">
                <a:solidFill>
                  <a:srgbClr val="FFFFFF">
                    <a:alpha val="70196"/>
                  </a:srgbClr>
                </a:solidFill>
                <a:latin typeface="Noto Sans SC"/>
                <a:ea typeface="Noto Sans SC"/>
                <a:cs typeface="Noto Sans SC"/>
                <a:sym typeface="Noto Sans SC"/>
              </a:rPr>
              <a:t>追求极致查询性能、需自研封装存储层的场景</a:t>
            </a:r>
            <a:endParaRPr lang="en-US" sz="1100"/>
          </a:p>
        </p:txBody>
      </p:sp>
      <p:sp>
        <p:nvSpPr>
          <p:cNvPr name="AutoShape 28" id="28"/>
          <p:cNvSpPr/>
          <p:nvPr/>
        </p:nvSpPr>
        <p:spPr>
          <a:xfrm rot="0" flipH="false" flipV="false">
            <a:off x="8877300" y="2032000"/>
            <a:ext cx="2540000" cy="3683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877300" y="2032000"/>
            <a:ext cx="2540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9004300" y="2286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FFFFF"/>
                </a:solidFill>
                <a:latin typeface="Noto Sans SC"/>
                <a:ea typeface="Noto Sans SC"/>
                <a:cs typeface="Noto Sans SC"/>
                <a:sym typeface="Noto Sans SC"/>
              </a:rPr>
              <a:t>Pinecone</a:t>
            </a:r>
            <a:endParaRPr lang="en-US" sz="1100"/>
          </a:p>
        </p:txBody>
      </p:sp>
      <p:cxnSp>
        <p:nvCxnSpPr>
          <p:cNvPr name="Connector 31" id="31"/>
          <p:cNvCxnSpPr/>
          <p:nvPr/>
        </p:nvCxnSpPr>
        <p:spPr>
          <a:xfrm rot="-19098" flipH="false" flipV="false">
            <a:off x="9004318" y="3041650"/>
            <a:ext cx="2286000" cy="12700"/>
          </a:xfrm>
          <a:prstGeom prst="straightConnector1">
            <a:avLst/>
          </a:prstGeom>
          <a:solidFill>
            <a:srgbClr val="DEE0E3">
              <a:alpha val="100000"/>
            </a:srgbClr>
          </a:solidFill>
          <a:ln w="12700" cmpd="sng" cap="flat">
            <a:solidFill>
              <a:srgbClr val="FFFFFF">
                <a:alpha val="20000"/>
              </a:srgbClr>
            </a:solidFill>
            <a:prstDash val="dash"/>
            <a:round/>
            <a:headEnd type="none" w="med" len="med"/>
            <a:tailEnd type="none" w="med" len="med"/>
          </a:ln>
        </p:spPr>
      </p:cxnSp>
      <p:sp>
        <p:nvSpPr>
          <p:cNvPr name="AutoShape 32" id="32"/>
          <p:cNvSpPr/>
          <p:nvPr/>
        </p:nvSpPr>
        <p:spPr>
          <a:xfrm rot="0" flipH="false" flipV="false">
            <a:off x="9004300" y="3302000"/>
            <a:ext cx="228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ADE80"/>
                </a:solidFill>
                <a:latin typeface="Noto Sans SC"/>
                <a:ea typeface="Noto Sans SC"/>
                <a:cs typeface="Noto Sans SC"/>
                <a:sym typeface="Noto Sans SC"/>
              </a:rPr>
              <a:t>云原生托管向量服务</a:t>
            </a:r>
            <a:endParaRPr lang="en-US" sz="1100"/>
          </a:p>
        </p:txBody>
      </p:sp>
      <p:sp>
        <p:nvSpPr>
          <p:cNvPr name="AutoShape 33" id="33"/>
          <p:cNvSpPr/>
          <p:nvPr/>
        </p:nvSpPr>
        <p:spPr>
          <a:xfrm rot="0" flipH="false" flipV="false">
            <a:off x="9004300" y="43180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80000"/>
                  </a:srgbClr>
                </a:solidFill>
                <a:latin typeface="Noto Sans SC"/>
                <a:ea typeface="Noto Sans SC"/>
                <a:cs typeface="Noto Sans SC"/>
                <a:sym typeface="Noto Sans SC"/>
              </a:rPr>
              <a:t>全托管SaaS服务，无需关心底层运维，支持弹性伸缩，按量付费，集成便捷。</a:t>
            </a:r>
            <a:endParaRPr lang="en-US" sz="1100"/>
          </a:p>
        </p:txBody>
      </p:sp>
      <p:sp>
        <p:nvSpPr>
          <p:cNvPr name="AutoShape 34" id="34"/>
          <p:cNvSpPr/>
          <p:nvPr/>
        </p:nvSpPr>
        <p:spPr>
          <a:xfrm rot="0" flipH="false" flipV="false">
            <a:off x="9004300" y="5715000"/>
            <a:ext cx="2286000" cy="635000"/>
          </a:xfrm>
          <a:prstGeom prst="roundRect">
            <a:avLst>
              <a:gd name="adj" fmla="val 0"/>
            </a:avLst>
          </a:prstGeom>
          <a:solidFill>
            <a:srgbClr val="4ADE8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9067800" y="57785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FFFFF"/>
                </a:solidFill>
                <a:latin typeface="Noto Sans SC"/>
                <a:ea typeface="Noto Sans SC"/>
                <a:cs typeface="Noto Sans SC"/>
                <a:sym typeface="Noto Sans SC"/>
              </a:rPr>
              <a:t>适用：</a:t>
            </a:r>
            <a:r>
              <a:rPr lang="en-US" b="false" i="false" strike="noStrike" u="none" sz="1200">
                <a:solidFill>
                  <a:srgbClr val="FFFFFF">
                    <a:alpha val="70196"/>
                  </a:srgbClr>
                </a:solidFill>
                <a:latin typeface="Noto Sans SC"/>
                <a:ea typeface="Noto Sans SC"/>
                <a:cs typeface="Noto Sans SC"/>
                <a:sym typeface="Noto Sans SC"/>
              </a:rPr>
              <a:t>云端线上业务、需要快速上线且无运维团队的项目</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1E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向量库索引选择规范</a:t>
            </a:r>
            <a:endParaRPr lang="en-US" sz="1100"/>
          </a:p>
        </p:txBody>
      </p:sp>
      <p:sp>
        <p:nvSpPr>
          <p:cNvPr name="AutoShape 3" id="3"/>
          <p:cNvSpPr/>
          <p:nvPr/>
        </p:nvSpPr>
        <p:spPr>
          <a:xfrm rot="0" flipH="false" flipV="false">
            <a:off x="762000" y="1524000"/>
            <a:ext cx="10668000" cy="254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159000"/>
            <a:ext cx="3429000" cy="4064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159000"/>
            <a:ext cx="3429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476500"/>
            <a:ext cx="457200" cy="457200"/>
          </a:xfrm>
          <a:prstGeom prst="rect">
            <a:avLst/>
          </a:prstGeom>
        </p:spPr>
      </p:pic>
      <p:sp>
        <p:nvSpPr>
          <p:cNvPr name="AutoShape 7" id="7"/>
          <p:cNvSpPr/>
          <p:nvPr/>
        </p:nvSpPr>
        <p:spPr>
          <a:xfrm rot="0" flipH="false" flipV="false">
            <a:off x="1651000" y="2476500"/>
            <a:ext cx="2413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4ADE80"/>
                </a:solidFill>
                <a:latin typeface="Noto Sans SC"/>
                <a:ea typeface="Noto Sans SC"/>
                <a:cs typeface="Noto Sans SC"/>
                <a:sym typeface="Noto Sans SC"/>
              </a:rPr>
              <a:t>小规模数据集</a:t>
            </a:r>
            <a:endParaRPr lang="en-US" sz="1100"/>
          </a:p>
        </p:txBody>
      </p:sp>
      <p:sp>
        <p:nvSpPr>
          <p:cNvPr name="AutoShape 8" id="8"/>
          <p:cNvSpPr/>
          <p:nvPr/>
        </p:nvSpPr>
        <p:spPr>
          <a:xfrm rot="0" flipH="false" flipV="false">
            <a:off x="1016000" y="3302000"/>
            <a:ext cx="292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适用范围：向量数量 &lt; 10万</a:t>
            </a:r>
            <a:endParaRPr lang="en-US" sz="1100"/>
          </a:p>
        </p:txBody>
      </p:sp>
      <p:cxnSp>
        <p:nvCxnSpPr>
          <p:cNvPr name="Connector 9" id="9"/>
          <p:cNvCxnSpPr/>
          <p:nvPr/>
        </p:nvCxnSpPr>
        <p:spPr>
          <a:xfrm rot="-14946" flipH="false" flipV="false">
            <a:off x="1016014" y="3930650"/>
            <a:ext cx="2921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0" id="10"/>
          <p:cNvSpPr/>
          <p:nvPr/>
        </p:nvSpPr>
        <p:spPr>
          <a:xfrm rot="0" flipH="false" flipV="false">
            <a:off x="1016000" y="41910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FFFFFF"/>
                </a:solidFill>
                <a:latin typeface="Noto Sans SC"/>
                <a:ea typeface="Noto Sans SC"/>
                <a:cs typeface="Noto Sans SC"/>
                <a:sym typeface="Noto Sans SC"/>
              </a:rPr>
              <a:t>核心索引：FLAT (暴力全量检索)</a:t>
            </a:r>
            <a:endParaRPr lang="en-US" sz="1100"/>
          </a:p>
        </p:txBody>
      </p:sp>
      <p:sp>
        <p:nvSpPr>
          <p:cNvPr name="AutoShape 11" id="11"/>
          <p:cNvSpPr/>
          <p:nvPr/>
        </p:nvSpPr>
        <p:spPr>
          <a:xfrm rot="0" flipH="false" flipV="false">
            <a:off x="1016000" y="5080000"/>
            <a:ext cx="2921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0000"/>
                  </a:srgbClr>
                </a:solidFill>
                <a:latin typeface="Noto Sans SC"/>
                <a:ea typeface="Noto Sans SC"/>
                <a:cs typeface="Noto Sans SC"/>
                <a:sym typeface="Noto Sans SC"/>
              </a:rPr>
              <a:t>优势是能保证100%的检索准确率，无任何精度损失；缺点是随着数据量增加，检索速度会显著变慢。</a:t>
            </a:r>
            <a:endParaRPr lang="en-US" sz="1100"/>
          </a:p>
        </p:txBody>
      </p:sp>
      <p:sp>
        <p:nvSpPr>
          <p:cNvPr name="AutoShape 12" id="12"/>
          <p:cNvSpPr/>
          <p:nvPr/>
        </p:nvSpPr>
        <p:spPr>
          <a:xfrm rot="0" flipH="false" flipV="false">
            <a:off x="4445000" y="2159000"/>
            <a:ext cx="3429000" cy="4064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445000" y="2159000"/>
            <a:ext cx="3429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476500"/>
            <a:ext cx="457200" cy="457200"/>
          </a:xfrm>
          <a:prstGeom prst="rect">
            <a:avLst/>
          </a:prstGeom>
        </p:spPr>
      </p:pic>
      <p:sp>
        <p:nvSpPr>
          <p:cNvPr name="AutoShape 15" id="15"/>
          <p:cNvSpPr/>
          <p:nvPr/>
        </p:nvSpPr>
        <p:spPr>
          <a:xfrm rot="0" flipH="false" flipV="false">
            <a:off x="5334000" y="2476500"/>
            <a:ext cx="2413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4ADE80"/>
                </a:solidFill>
                <a:latin typeface="Noto Sans SC"/>
                <a:ea typeface="Noto Sans SC"/>
                <a:cs typeface="Noto Sans SC"/>
                <a:sym typeface="Noto Sans SC"/>
              </a:rPr>
              <a:t>中规模数据集</a:t>
            </a:r>
            <a:endParaRPr lang="en-US" sz="1100"/>
          </a:p>
        </p:txBody>
      </p:sp>
      <p:sp>
        <p:nvSpPr>
          <p:cNvPr name="AutoShape 16" id="16"/>
          <p:cNvSpPr/>
          <p:nvPr/>
        </p:nvSpPr>
        <p:spPr>
          <a:xfrm rot="0" flipH="false" flipV="false">
            <a:off x="4699000" y="3302000"/>
            <a:ext cx="292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适用范围：10万 ≤ 向量数量 ≤ 1000万</a:t>
            </a:r>
            <a:endParaRPr lang="en-US" sz="1100"/>
          </a:p>
        </p:txBody>
      </p:sp>
      <p:cxnSp>
        <p:nvCxnSpPr>
          <p:cNvPr name="Connector 17" id="17"/>
          <p:cNvCxnSpPr/>
          <p:nvPr/>
        </p:nvCxnSpPr>
        <p:spPr>
          <a:xfrm rot="-14946" flipH="false" flipV="false">
            <a:off x="4699014" y="3930650"/>
            <a:ext cx="2921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8" id="18"/>
          <p:cNvSpPr/>
          <p:nvPr/>
        </p:nvSpPr>
        <p:spPr>
          <a:xfrm rot="0" flipH="false" flipV="false">
            <a:off x="4699000" y="41910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FFFFFF"/>
                </a:solidFill>
                <a:latin typeface="Noto Sans SC"/>
                <a:ea typeface="Noto Sans SC"/>
                <a:cs typeface="Noto Sans SC"/>
                <a:sym typeface="Noto Sans SC"/>
              </a:rPr>
              <a:t>核心索引：IVF_FLAT (倒排索引)</a:t>
            </a:r>
            <a:endParaRPr lang="en-US" sz="1100"/>
          </a:p>
        </p:txBody>
      </p:sp>
      <p:sp>
        <p:nvSpPr>
          <p:cNvPr name="AutoShape 19" id="19"/>
          <p:cNvSpPr/>
          <p:nvPr/>
        </p:nvSpPr>
        <p:spPr>
          <a:xfrm rot="0" flipH="false" flipV="false">
            <a:off x="4699000" y="5080000"/>
            <a:ext cx="2921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0000"/>
                  </a:srgbClr>
                </a:solidFill>
                <a:latin typeface="Noto Sans SC"/>
                <a:ea typeface="Noto Sans SC"/>
                <a:cs typeface="Noto Sans SC"/>
                <a:sym typeface="Noto Sans SC"/>
              </a:rPr>
              <a:t>通过聚类分桶平衡了检索速度与精度；但需要提前训练聚类中心，且检索性能受聚类质量影响较大。</a:t>
            </a:r>
            <a:endParaRPr lang="en-US" sz="1100"/>
          </a:p>
        </p:txBody>
      </p:sp>
      <p:sp>
        <p:nvSpPr>
          <p:cNvPr name="AutoShape 20" id="20"/>
          <p:cNvSpPr/>
          <p:nvPr/>
        </p:nvSpPr>
        <p:spPr>
          <a:xfrm rot="0" flipH="false" flipV="false">
            <a:off x="8001000" y="2159000"/>
            <a:ext cx="3429000" cy="4064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001000" y="2159000"/>
            <a:ext cx="3429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55000" y="2476500"/>
            <a:ext cx="457200" cy="457200"/>
          </a:xfrm>
          <a:prstGeom prst="rect">
            <a:avLst/>
          </a:prstGeom>
        </p:spPr>
      </p:pic>
      <p:sp>
        <p:nvSpPr>
          <p:cNvPr name="AutoShape 23" id="23"/>
          <p:cNvSpPr/>
          <p:nvPr/>
        </p:nvSpPr>
        <p:spPr>
          <a:xfrm rot="0" flipH="false" flipV="false">
            <a:off x="8890000" y="2476500"/>
            <a:ext cx="2413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4ADE80"/>
                </a:solidFill>
                <a:latin typeface="Noto Sans SC"/>
                <a:ea typeface="Noto Sans SC"/>
                <a:cs typeface="Noto Sans SC"/>
                <a:sym typeface="Noto Sans SC"/>
              </a:rPr>
              <a:t>大规模线上生产</a:t>
            </a:r>
            <a:endParaRPr lang="en-US" sz="1100"/>
          </a:p>
        </p:txBody>
      </p:sp>
      <p:sp>
        <p:nvSpPr>
          <p:cNvPr name="AutoShape 24" id="24"/>
          <p:cNvSpPr/>
          <p:nvPr/>
        </p:nvSpPr>
        <p:spPr>
          <a:xfrm rot="0" flipH="false" flipV="false">
            <a:off x="8255000" y="3302000"/>
            <a:ext cx="292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适用范围：向量数量 &gt; 1000万</a:t>
            </a:r>
            <a:endParaRPr lang="en-US" sz="1100"/>
          </a:p>
        </p:txBody>
      </p:sp>
      <p:cxnSp>
        <p:nvCxnSpPr>
          <p:cNvPr name="Connector 25" id="25"/>
          <p:cNvCxnSpPr/>
          <p:nvPr/>
        </p:nvCxnSpPr>
        <p:spPr>
          <a:xfrm rot="-14946" flipH="false" flipV="false">
            <a:off x="8255014" y="3930650"/>
            <a:ext cx="2921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26" id="26"/>
          <p:cNvSpPr/>
          <p:nvPr/>
        </p:nvSpPr>
        <p:spPr>
          <a:xfrm rot="0" flipH="false" flipV="false">
            <a:off x="8255000" y="41910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FFFFFF"/>
                </a:solidFill>
                <a:latin typeface="Noto Sans SC"/>
                <a:ea typeface="Noto Sans SC"/>
                <a:cs typeface="Noto Sans SC"/>
                <a:sym typeface="Noto Sans SC"/>
              </a:rPr>
              <a:t>核心索引：HNSW (分层导航小世界图)</a:t>
            </a:r>
            <a:endParaRPr lang="en-US" sz="1100"/>
          </a:p>
        </p:txBody>
      </p:sp>
      <p:sp>
        <p:nvSpPr>
          <p:cNvPr name="AutoShape 27" id="27"/>
          <p:cNvSpPr/>
          <p:nvPr/>
        </p:nvSpPr>
        <p:spPr>
          <a:xfrm rot="0" flipH="false" flipV="false">
            <a:off x="8255000" y="5080000"/>
            <a:ext cx="2921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0000"/>
                  </a:srgbClr>
                </a:solidFill>
                <a:latin typeface="Noto Sans SC"/>
                <a:ea typeface="Noto Sans SC"/>
                <a:cs typeface="Noto Sans SC"/>
                <a:sym typeface="Noto Sans SC"/>
              </a:rPr>
              <a:t>能提供极致的检索速度，适合高并发场景；代价是存在轻微精度损耗，且构建索引和检索时的内存占用较高。</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B2B2B">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向量相似度计算方式</a:t>
            </a:r>
            <a:endParaRPr lang="en-US" sz="1100"/>
          </a:p>
        </p:txBody>
      </p:sp>
      <p:sp>
        <p:nvSpPr>
          <p:cNvPr name="AutoShape 3" id="3"/>
          <p:cNvSpPr/>
          <p:nvPr/>
        </p:nvSpPr>
        <p:spPr>
          <a:xfrm rot="0" flipH="false" flipV="false">
            <a:off x="762000" y="1460500"/>
            <a:ext cx="1016000" cy="50800"/>
          </a:xfrm>
          <a:prstGeom prst="roundRect">
            <a:avLst>
              <a:gd name="adj" fmla="val 0"/>
            </a:avLst>
          </a:prstGeom>
          <a:solidFill>
            <a:srgbClr val="00FF9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159000"/>
            <a:ext cx="3429000" cy="4064000"/>
          </a:xfrm>
          <a:prstGeom prst="roundRect">
            <a:avLst>
              <a:gd name="adj" fmla="val 0"/>
            </a:avLst>
          </a:prstGeom>
          <a:solidFill>
            <a:srgbClr val="FFFFF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159000"/>
            <a:ext cx="3429000" cy="76200"/>
          </a:xfrm>
          <a:prstGeom prst="roundRect">
            <a:avLst>
              <a:gd name="adj" fmla="val 0"/>
            </a:avLst>
          </a:prstGeom>
          <a:solidFill>
            <a:srgbClr val="00FF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540000"/>
            <a:ext cx="508000" cy="508000"/>
          </a:xfrm>
          <a:prstGeom prst="rect">
            <a:avLst/>
          </a:prstGeom>
        </p:spPr>
      </p:pic>
      <p:sp>
        <p:nvSpPr>
          <p:cNvPr name="AutoShape 7" id="7"/>
          <p:cNvSpPr/>
          <p:nvPr/>
        </p:nvSpPr>
        <p:spPr>
          <a:xfrm rot="0" flipH="false" flipV="false">
            <a:off x="1651000" y="25400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余弦相似度</a:t>
            </a:r>
            <a:endParaRPr lang="en-US" sz="1100"/>
          </a:p>
        </p:txBody>
      </p:sp>
      <p:cxnSp>
        <p:nvCxnSpPr>
          <p:cNvPr name="Connector 8" id="8"/>
          <p:cNvCxnSpPr/>
          <p:nvPr/>
        </p:nvCxnSpPr>
        <p:spPr>
          <a:xfrm rot="-14946" flipH="false" flipV="false">
            <a:off x="1016014" y="3422650"/>
            <a:ext cx="2921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9" id="9"/>
          <p:cNvSpPr/>
          <p:nvPr/>
        </p:nvSpPr>
        <p:spPr>
          <a:xfrm rot="0" flipH="false" flipV="false">
            <a:off x="1016000" y="3683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00FF9D"/>
                </a:solidFill>
                <a:latin typeface="Noto Sans SC"/>
                <a:ea typeface="Noto Sans SC"/>
                <a:cs typeface="Noto Sans SC"/>
                <a:sym typeface="Noto Sans SC"/>
              </a:rPr>
              <a:t>核心应用：</a:t>
            </a:r>
            <a:r>
              <a:rPr lang="en-US" b="false" i="false" strike="noStrike" u="none" sz="1600">
                <a:solidFill>
                  <a:srgbClr val="FFFFFF">
                    <a:alpha val="85098"/>
                  </a:srgbClr>
                </a:solidFill>
                <a:latin typeface="Noto Sans SC"/>
                <a:ea typeface="Noto Sans SC"/>
                <a:cs typeface="Noto Sans SC"/>
                <a:sym typeface="Noto Sans SC"/>
              </a:rPr>
              <a:t>目前最通用的相似度算法，广泛适配各类Embedding模型，是文本RAG场景的首选方案。</a:t>
            </a:r>
            <a:endParaRPr lang="en-US" sz="1100"/>
          </a:p>
        </p:txBody>
      </p:sp>
      <p:sp>
        <p:nvSpPr>
          <p:cNvPr name="AutoShape 10" id="10"/>
          <p:cNvSpPr/>
          <p:nvPr/>
        </p:nvSpPr>
        <p:spPr>
          <a:xfrm rot="0" flipH="false" flipV="false">
            <a:off x="1016000" y="50800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00FF9D"/>
                </a:solidFill>
                <a:latin typeface="Noto Sans SC"/>
                <a:ea typeface="Noto Sans SC"/>
                <a:cs typeface="Noto Sans SC"/>
                <a:sym typeface="Noto Sans SC"/>
              </a:rPr>
              <a:t>计算原理：</a:t>
            </a:r>
            <a:r>
              <a:rPr lang="en-US" b="false" i="false" strike="noStrike" u="none" sz="1600">
                <a:solidFill>
                  <a:srgbClr val="FFFFFF">
                    <a:alpha val="85098"/>
                  </a:srgbClr>
                </a:solidFill>
                <a:latin typeface="Noto Sans SC"/>
                <a:ea typeface="Noto Sans SC"/>
                <a:cs typeface="Noto Sans SC"/>
                <a:sym typeface="Noto Sans SC"/>
              </a:rPr>
              <a:t>衡量两个向量夹角的余弦值，核心关注向量的“方向差异”而非“绝对大小”，能有效反映语义相似度。</a:t>
            </a:r>
            <a:endParaRPr lang="en-US" sz="1100"/>
          </a:p>
        </p:txBody>
      </p:sp>
      <p:sp>
        <p:nvSpPr>
          <p:cNvPr name="AutoShape 11" id="11"/>
          <p:cNvSpPr/>
          <p:nvPr/>
        </p:nvSpPr>
        <p:spPr>
          <a:xfrm rot="0" flipH="false" flipV="false">
            <a:off x="4445000" y="2159000"/>
            <a:ext cx="3429000" cy="4064000"/>
          </a:xfrm>
          <a:prstGeom prst="roundRect">
            <a:avLst>
              <a:gd name="adj" fmla="val 0"/>
            </a:avLst>
          </a:prstGeom>
          <a:solidFill>
            <a:srgbClr val="FFFFF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445000" y="2159000"/>
            <a:ext cx="3429000" cy="76200"/>
          </a:xfrm>
          <a:prstGeom prst="roundRect">
            <a:avLst>
              <a:gd name="adj" fmla="val 0"/>
            </a:avLst>
          </a:prstGeom>
          <a:solidFill>
            <a:srgbClr val="00FF9D">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540000"/>
            <a:ext cx="508000" cy="508000"/>
          </a:xfrm>
          <a:prstGeom prst="rect">
            <a:avLst/>
          </a:prstGeom>
        </p:spPr>
      </p:pic>
      <p:sp>
        <p:nvSpPr>
          <p:cNvPr name="AutoShape 14" id="14"/>
          <p:cNvSpPr/>
          <p:nvPr/>
        </p:nvSpPr>
        <p:spPr>
          <a:xfrm rot="0" flipH="false" flipV="false">
            <a:off x="5334000" y="25400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L2 欧氏距离</a:t>
            </a:r>
            <a:endParaRPr lang="en-US" sz="1100"/>
          </a:p>
        </p:txBody>
      </p:sp>
      <p:cxnSp>
        <p:nvCxnSpPr>
          <p:cNvPr name="Connector 15" id="15"/>
          <p:cNvCxnSpPr/>
          <p:nvPr/>
        </p:nvCxnSpPr>
        <p:spPr>
          <a:xfrm rot="-14946" flipH="false" flipV="false">
            <a:off x="4699014" y="3422650"/>
            <a:ext cx="2921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6" id="16"/>
          <p:cNvSpPr/>
          <p:nvPr/>
        </p:nvSpPr>
        <p:spPr>
          <a:xfrm rot="0" flipH="false" flipV="false">
            <a:off x="4699000" y="3683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00FF9D"/>
                </a:solidFill>
                <a:latin typeface="Noto Sans SC"/>
                <a:ea typeface="Noto Sans SC"/>
                <a:cs typeface="Noto Sans SC"/>
                <a:sym typeface="Noto Sans SC"/>
              </a:rPr>
              <a:t>核心应用：</a:t>
            </a:r>
            <a:r>
              <a:rPr lang="en-US" b="false" i="false" strike="noStrike" u="none" sz="1600">
                <a:solidFill>
                  <a:srgbClr val="FFFFFF">
                    <a:alpha val="85098"/>
                  </a:srgbClr>
                </a:solidFill>
                <a:latin typeface="Noto Sans SC"/>
                <a:ea typeface="Noto Sans SC"/>
                <a:cs typeface="Noto Sans SC"/>
                <a:sym typeface="Noto Sans SC"/>
              </a:rPr>
              <a:t>多用于计算机视觉领域的图像向量匹配任务；在文本检索场景中极少使用，效果通常弱于余弦相似度。</a:t>
            </a:r>
            <a:endParaRPr lang="en-US" sz="1100"/>
          </a:p>
        </p:txBody>
      </p:sp>
      <p:sp>
        <p:nvSpPr>
          <p:cNvPr name="AutoShape 17" id="17"/>
          <p:cNvSpPr/>
          <p:nvPr/>
        </p:nvSpPr>
        <p:spPr>
          <a:xfrm rot="0" flipH="false" flipV="false">
            <a:off x="4699000" y="50800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00FF9D"/>
                </a:solidFill>
                <a:latin typeface="Noto Sans SC"/>
                <a:ea typeface="Noto Sans SC"/>
                <a:cs typeface="Noto Sans SC"/>
                <a:sym typeface="Noto Sans SC"/>
              </a:rPr>
              <a:t>计算原理：</a:t>
            </a:r>
            <a:r>
              <a:rPr lang="en-US" b="false" i="false" strike="noStrike" u="none" sz="1600">
                <a:solidFill>
                  <a:srgbClr val="FFFFFF">
                    <a:alpha val="85098"/>
                  </a:srgbClr>
                </a:solidFill>
                <a:latin typeface="Noto Sans SC"/>
                <a:ea typeface="Noto Sans SC"/>
                <a:cs typeface="Noto Sans SC"/>
                <a:sym typeface="Noto Sans SC"/>
              </a:rPr>
              <a:t>计算向量在高维空间中的“直线距离”，对向量的绝对数值大小敏感，距离越近则相似度越高。</a:t>
            </a:r>
            <a:endParaRPr lang="en-US" sz="1100"/>
          </a:p>
        </p:txBody>
      </p:sp>
      <p:sp>
        <p:nvSpPr>
          <p:cNvPr name="AutoShape 18" id="18"/>
          <p:cNvSpPr/>
          <p:nvPr/>
        </p:nvSpPr>
        <p:spPr>
          <a:xfrm rot="0" flipH="false" flipV="false">
            <a:off x="8001000" y="2159000"/>
            <a:ext cx="3429000" cy="4064000"/>
          </a:xfrm>
          <a:prstGeom prst="roundRect">
            <a:avLst>
              <a:gd name="adj" fmla="val 0"/>
            </a:avLst>
          </a:prstGeom>
          <a:solidFill>
            <a:srgbClr val="FFFFF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001000" y="2159000"/>
            <a:ext cx="3429000" cy="76200"/>
          </a:xfrm>
          <a:prstGeom prst="roundRect">
            <a:avLst>
              <a:gd name="adj" fmla="val 0"/>
            </a:avLst>
          </a:prstGeom>
          <a:solidFill>
            <a:srgbClr val="00FF9D">
              <a:alpha val="4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55000" y="2540000"/>
            <a:ext cx="508000" cy="508000"/>
          </a:xfrm>
          <a:prstGeom prst="rect">
            <a:avLst/>
          </a:prstGeom>
        </p:spPr>
      </p:pic>
      <p:sp>
        <p:nvSpPr>
          <p:cNvPr name="AutoShape 21" id="21"/>
          <p:cNvSpPr/>
          <p:nvPr/>
        </p:nvSpPr>
        <p:spPr>
          <a:xfrm rot="0" flipH="false" flipV="false">
            <a:off x="8890000" y="25400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内积距离</a:t>
            </a:r>
            <a:endParaRPr lang="en-US" sz="1100"/>
          </a:p>
        </p:txBody>
      </p:sp>
      <p:cxnSp>
        <p:nvCxnSpPr>
          <p:cNvPr name="Connector 22" id="22"/>
          <p:cNvCxnSpPr/>
          <p:nvPr/>
        </p:nvCxnSpPr>
        <p:spPr>
          <a:xfrm rot="-14946" flipH="false" flipV="false">
            <a:off x="8255014" y="3422650"/>
            <a:ext cx="2921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3" id="23"/>
          <p:cNvSpPr/>
          <p:nvPr/>
        </p:nvSpPr>
        <p:spPr>
          <a:xfrm rot="0" flipH="false" flipV="false">
            <a:off x="8255000" y="3683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00FF9D"/>
                </a:solidFill>
                <a:latin typeface="Noto Sans SC"/>
                <a:ea typeface="Noto Sans SC"/>
                <a:cs typeface="Noto Sans SC"/>
                <a:sym typeface="Noto Sans SC"/>
              </a:rPr>
              <a:t>核心应用：</a:t>
            </a:r>
            <a:r>
              <a:rPr lang="en-US" b="false" i="false" strike="noStrike" u="none" sz="1600">
                <a:solidFill>
                  <a:srgbClr val="FFFFFF">
                    <a:alpha val="85098"/>
                  </a:srgbClr>
                </a:solidFill>
                <a:latin typeface="Noto Sans SC"/>
                <a:ea typeface="Noto Sans SC"/>
                <a:cs typeface="Noto Sans SC"/>
                <a:sym typeface="Noto Sans SC"/>
              </a:rPr>
              <a:t>仅适用于特定模型或经过特殊处理的向量空间；在未经处理的文本Embedding中不建议直接使用。</a:t>
            </a:r>
            <a:endParaRPr lang="en-US" sz="1100"/>
          </a:p>
        </p:txBody>
      </p:sp>
      <p:sp>
        <p:nvSpPr>
          <p:cNvPr name="AutoShape 24" id="24"/>
          <p:cNvSpPr/>
          <p:nvPr/>
        </p:nvSpPr>
        <p:spPr>
          <a:xfrm rot="0" flipH="false" flipV="false">
            <a:off x="8255000" y="50800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00FF9D"/>
                </a:solidFill>
                <a:latin typeface="Noto Sans SC"/>
                <a:ea typeface="Noto Sans SC"/>
                <a:cs typeface="Noto Sans SC"/>
                <a:sym typeface="Noto Sans SC"/>
              </a:rPr>
              <a:t>关键特性：</a:t>
            </a:r>
            <a:r>
              <a:rPr lang="en-US" b="false" i="false" strike="noStrike" u="none" sz="1600">
                <a:solidFill>
                  <a:srgbClr val="FFFFFF">
                    <a:alpha val="85098"/>
                  </a:srgbClr>
                </a:solidFill>
                <a:latin typeface="Noto Sans SC"/>
                <a:ea typeface="Noto Sans SC"/>
                <a:cs typeface="Noto Sans SC"/>
                <a:sym typeface="Noto Sans SC"/>
              </a:rPr>
              <a:t>计算向量的点积结果。只有当所有向量都经过“L2归一化”处理后，内积距离才等价于余弦相似度。</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28282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270000" y="-1270000"/>
            <a:ext cx="5080000" cy="5080000"/>
          </a:xfrm>
          <a:prstGeom prst="ellipse">
            <a:avLst/>
          </a:prstGeom>
          <a:solidFill>
            <a:srgbClr val="00E67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0" y="3810000"/>
            <a:ext cx="6350000" cy="6350000"/>
          </a:xfrm>
          <a:prstGeom prst="ellipse">
            <a:avLst/>
          </a:prstGeom>
          <a:solidFill>
            <a:srgbClr val="00E67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032000"/>
            <a:ext cx="12192000" cy="228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0">
                <a:solidFill>
                  <a:srgbClr val="00E676"/>
                </a:solidFill>
                <a:latin typeface="Noto Sans SC"/>
                <a:ea typeface="Noto Sans SC"/>
                <a:cs typeface="Noto Sans SC"/>
                <a:sym typeface="Noto Sans SC"/>
              </a:rPr>
              <a:t>03</a:t>
            </a:r>
            <a:endParaRPr lang="en-US" sz="1100"/>
          </a:p>
        </p:txBody>
      </p:sp>
      <p:sp>
        <p:nvSpPr>
          <p:cNvPr name="AutoShape 5" id="5"/>
          <p:cNvSpPr/>
          <p:nvPr/>
        </p:nvSpPr>
        <p:spPr>
          <a:xfrm rot="0" flipH="false" flipV="false">
            <a:off x="5588000" y="4699000"/>
            <a:ext cx="1016000" cy="50800"/>
          </a:xfrm>
          <a:prstGeom prst="roundRect">
            <a:avLst>
              <a:gd name="adj" fmla="val 0"/>
            </a:avLst>
          </a:prstGeom>
          <a:solidFill>
            <a:srgbClr val="00E6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5207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FFFFFF"/>
                </a:solidFill>
                <a:latin typeface="Noto Sans SC"/>
                <a:ea typeface="Noto Sans SC"/>
                <a:cs typeface="Noto Sans SC"/>
                <a:sym typeface="Noto Sans SC"/>
              </a:rPr>
              <a:t>RAG优化进阶方案</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6262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检索优化技术</a:t>
            </a:r>
            <a:endParaRPr lang="en-US" sz="1100"/>
          </a:p>
        </p:txBody>
      </p:sp>
      <p:sp>
        <p:nvSpPr>
          <p:cNvPr name="AutoShape 3" id="3"/>
          <p:cNvSpPr/>
          <p:nvPr/>
        </p:nvSpPr>
        <p:spPr>
          <a:xfrm rot="0" flipH="false" flipV="false">
            <a:off x="762000" y="2032000"/>
            <a:ext cx="3429000" cy="3556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032000"/>
            <a:ext cx="3429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349500"/>
            <a:ext cx="406400" cy="406400"/>
          </a:xfrm>
          <a:prstGeom prst="rect">
            <a:avLst/>
          </a:prstGeom>
        </p:spPr>
      </p:pic>
      <p:sp>
        <p:nvSpPr>
          <p:cNvPr name="AutoShape 6" id="6"/>
          <p:cNvSpPr/>
          <p:nvPr/>
        </p:nvSpPr>
        <p:spPr>
          <a:xfrm rot="0" flipH="false" flipV="false">
            <a:off x="1587500" y="23114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Query改写 (HyDE)</a:t>
            </a:r>
            <a:endParaRPr lang="en-US" sz="1100"/>
          </a:p>
        </p:txBody>
      </p:sp>
      <p:cxnSp>
        <p:nvCxnSpPr>
          <p:cNvPr name="Connector 7" id="7"/>
          <p:cNvCxnSpPr/>
          <p:nvPr/>
        </p:nvCxnSpPr>
        <p:spPr>
          <a:xfrm rot="-14946" flipH="false" flipV="false">
            <a:off x="1016014" y="3041650"/>
            <a:ext cx="2921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8" id="8"/>
          <p:cNvSpPr/>
          <p:nvPr/>
        </p:nvSpPr>
        <p:spPr>
          <a:xfrm rot="0" flipH="false" flipV="false">
            <a:off x="1016000" y="3302000"/>
            <a:ext cx="2921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4ADE80"/>
                </a:solidFill>
                <a:latin typeface="Noto Sans SC"/>
                <a:ea typeface="Noto Sans SC"/>
                <a:cs typeface="Noto Sans SC"/>
                <a:sym typeface="Noto Sans SC"/>
              </a:rPr>
              <a:t>方法：</a:t>
            </a:r>
            <a:r>
              <a:rPr lang="en-US" b="false" i="false" strike="noStrike" u="none" sz="1400">
                <a:solidFill>
                  <a:srgbClr val="FFFFFF">
                    <a:alpha val="85098"/>
                  </a:srgbClr>
                </a:solidFill>
                <a:latin typeface="Noto Sans SC"/>
                <a:ea typeface="Noto Sans SC"/>
                <a:cs typeface="Noto Sans SC"/>
                <a:sym typeface="Noto Sans SC"/>
              </a:rPr>
              <a:t>将用户简短问题生成一段假设性回答，用假设文本去检索，以补充原始问题的语义信息。</a:t>
            </a:r>
            <a:endParaRPr lang="en-US" sz="1100"/>
          </a:p>
        </p:txBody>
      </p:sp>
      <p:sp>
        <p:nvSpPr>
          <p:cNvPr name="AutoShape 9" id="9"/>
          <p:cNvSpPr/>
          <p:nvPr/>
        </p:nvSpPr>
        <p:spPr>
          <a:xfrm rot="0" flipH="false" flipV="false">
            <a:off x="1016000" y="4699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4ADE80"/>
                </a:solidFill>
                <a:latin typeface="Noto Sans SC"/>
                <a:ea typeface="Noto Sans SC"/>
                <a:cs typeface="Noto Sans SC"/>
                <a:sym typeface="Noto Sans SC"/>
              </a:rPr>
              <a:t>效果：</a:t>
            </a:r>
            <a:r>
              <a:rPr lang="en-US" b="false" i="false" strike="noStrike" u="none" sz="1400">
                <a:solidFill>
                  <a:srgbClr val="FFFFFF">
                    <a:alpha val="85098"/>
                  </a:srgbClr>
                </a:solidFill>
                <a:latin typeface="Noto Sans SC"/>
                <a:ea typeface="Noto Sans SC"/>
                <a:cs typeface="Noto Sans SC"/>
                <a:sym typeface="Noto Sans SC"/>
              </a:rPr>
              <a:t>有效弥补短Query的语义缺失，显著提升召回率，让系统更理解用户的潜在需求。</a:t>
            </a:r>
            <a:endParaRPr lang="en-US" sz="1100"/>
          </a:p>
        </p:txBody>
      </p:sp>
      <p:sp>
        <p:nvSpPr>
          <p:cNvPr name="AutoShape 10" id="10"/>
          <p:cNvSpPr/>
          <p:nvPr/>
        </p:nvSpPr>
        <p:spPr>
          <a:xfrm rot="0" flipH="false" flipV="false">
            <a:off x="4445000" y="2032000"/>
            <a:ext cx="3429000" cy="3556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2032000"/>
            <a:ext cx="3429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349500"/>
            <a:ext cx="406400" cy="406400"/>
          </a:xfrm>
          <a:prstGeom prst="rect">
            <a:avLst/>
          </a:prstGeom>
        </p:spPr>
      </p:pic>
      <p:sp>
        <p:nvSpPr>
          <p:cNvPr name="AutoShape 13" id="13"/>
          <p:cNvSpPr/>
          <p:nvPr/>
        </p:nvSpPr>
        <p:spPr>
          <a:xfrm rot="0" flipH="false" flipV="false">
            <a:off x="5270500" y="23114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多路混合检索</a:t>
            </a:r>
            <a:endParaRPr lang="en-US" sz="1100"/>
          </a:p>
        </p:txBody>
      </p:sp>
      <p:cxnSp>
        <p:nvCxnSpPr>
          <p:cNvPr name="Connector 14" id="14"/>
          <p:cNvCxnSpPr/>
          <p:nvPr/>
        </p:nvCxnSpPr>
        <p:spPr>
          <a:xfrm rot="-14946" flipH="false" flipV="false">
            <a:off x="4699014" y="3041650"/>
            <a:ext cx="2921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5" id="15"/>
          <p:cNvSpPr/>
          <p:nvPr/>
        </p:nvSpPr>
        <p:spPr>
          <a:xfrm rot="0" flipH="false" flipV="false">
            <a:off x="4699000" y="3302000"/>
            <a:ext cx="2921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4ADE80"/>
                </a:solidFill>
                <a:latin typeface="Noto Sans SC"/>
                <a:ea typeface="Noto Sans SC"/>
                <a:cs typeface="Noto Sans SC"/>
                <a:sym typeface="Noto Sans SC"/>
              </a:rPr>
              <a:t>方法：</a:t>
            </a:r>
            <a:r>
              <a:rPr lang="en-US" b="false" i="false" strike="noStrike" u="none" sz="1400">
                <a:solidFill>
                  <a:srgbClr val="FFFFFF">
                    <a:alpha val="85098"/>
                  </a:srgbClr>
                </a:solidFill>
                <a:latin typeface="Noto Sans SC"/>
                <a:ea typeface="Noto Sans SC"/>
                <a:cs typeface="Noto Sans SC"/>
                <a:sym typeface="Noto Sans SC"/>
              </a:rPr>
              <a:t>融合向量语义检索与关键词BM25检索结果，结合语义理解的泛化性与关键词匹配的精准性。</a:t>
            </a:r>
            <a:endParaRPr lang="en-US" sz="1100"/>
          </a:p>
        </p:txBody>
      </p:sp>
      <p:sp>
        <p:nvSpPr>
          <p:cNvPr name="AutoShape 16" id="16"/>
          <p:cNvSpPr/>
          <p:nvPr/>
        </p:nvSpPr>
        <p:spPr>
          <a:xfrm rot="0" flipH="false" flipV="false">
            <a:off x="4699000" y="4699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4ADE80"/>
                </a:solidFill>
                <a:latin typeface="Noto Sans SC"/>
                <a:ea typeface="Noto Sans SC"/>
                <a:cs typeface="Noto Sans SC"/>
                <a:sym typeface="Noto Sans SC"/>
              </a:rPr>
              <a:t>效果：</a:t>
            </a:r>
            <a:r>
              <a:rPr lang="en-US" b="false" i="false" strike="noStrike" u="none" sz="1400">
                <a:solidFill>
                  <a:srgbClr val="FFFFFF">
                    <a:alpha val="85098"/>
                  </a:srgbClr>
                </a:solidFill>
                <a:latin typeface="Noto Sans SC"/>
                <a:ea typeface="Noto Sans SC"/>
                <a:cs typeface="Noto Sans SC"/>
                <a:sym typeface="Noto Sans SC"/>
              </a:rPr>
              <a:t>兼顾语义匹配与关键词精准匹配，有效解决纯向量检索易漏召回专业术语的问题。</a:t>
            </a:r>
            <a:endParaRPr lang="en-US" sz="1100"/>
          </a:p>
        </p:txBody>
      </p:sp>
      <p:sp>
        <p:nvSpPr>
          <p:cNvPr name="AutoShape 17" id="17"/>
          <p:cNvSpPr/>
          <p:nvPr/>
        </p:nvSpPr>
        <p:spPr>
          <a:xfrm rot="0" flipH="false" flipV="false">
            <a:off x="8001000" y="2032000"/>
            <a:ext cx="3429000" cy="3556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001000" y="2032000"/>
            <a:ext cx="3429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55000" y="2349500"/>
            <a:ext cx="406400" cy="406400"/>
          </a:xfrm>
          <a:prstGeom prst="rect">
            <a:avLst/>
          </a:prstGeom>
        </p:spPr>
      </p:pic>
      <p:sp>
        <p:nvSpPr>
          <p:cNvPr name="AutoShape 20" id="20"/>
          <p:cNvSpPr/>
          <p:nvPr/>
        </p:nvSpPr>
        <p:spPr>
          <a:xfrm rot="0" flipH="false" flipV="false">
            <a:off x="8826500" y="23114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重排 (Rerank)</a:t>
            </a:r>
            <a:endParaRPr lang="en-US" sz="1100"/>
          </a:p>
        </p:txBody>
      </p:sp>
      <p:cxnSp>
        <p:nvCxnSpPr>
          <p:cNvPr name="Connector 21" id="21"/>
          <p:cNvCxnSpPr/>
          <p:nvPr/>
        </p:nvCxnSpPr>
        <p:spPr>
          <a:xfrm rot="-14946" flipH="false" flipV="false">
            <a:off x="8255014" y="3041650"/>
            <a:ext cx="2921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22" id="22"/>
          <p:cNvSpPr/>
          <p:nvPr/>
        </p:nvSpPr>
        <p:spPr>
          <a:xfrm rot="0" flipH="false" flipV="false">
            <a:off x="8255000" y="3302000"/>
            <a:ext cx="2921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4ADE80"/>
                </a:solidFill>
                <a:latin typeface="Noto Sans SC"/>
                <a:ea typeface="Noto Sans SC"/>
                <a:cs typeface="Noto Sans SC"/>
                <a:sym typeface="Noto Sans SC"/>
              </a:rPr>
              <a:t>方法：</a:t>
            </a:r>
            <a:r>
              <a:rPr lang="en-US" b="false" i="false" strike="noStrike" u="none" sz="1400">
                <a:solidFill>
                  <a:srgbClr val="FFFFFF">
                    <a:alpha val="85098"/>
                  </a:srgbClr>
                </a:solidFill>
                <a:latin typeface="Noto Sans SC"/>
                <a:ea typeface="Noto Sans SC"/>
                <a:cs typeface="Noto Sans SC"/>
                <a:sym typeface="Noto Sans SC"/>
              </a:rPr>
              <a:t>在粗检索获取Top20候选片段后，使用Cross-Encoder模型对片段进行更精细的交叉打分与重新排序。</a:t>
            </a:r>
            <a:endParaRPr lang="en-US" sz="1100"/>
          </a:p>
        </p:txBody>
      </p:sp>
      <p:sp>
        <p:nvSpPr>
          <p:cNvPr name="AutoShape 23" id="23"/>
          <p:cNvSpPr/>
          <p:nvPr/>
        </p:nvSpPr>
        <p:spPr>
          <a:xfrm rot="0" flipH="false" flipV="false">
            <a:off x="8255000" y="4699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4ADE80"/>
                </a:solidFill>
                <a:latin typeface="Noto Sans SC"/>
                <a:ea typeface="Noto Sans SC"/>
                <a:cs typeface="Noto Sans SC"/>
                <a:sym typeface="Noto Sans SC"/>
              </a:rPr>
              <a:t>效果：</a:t>
            </a:r>
            <a:r>
              <a:rPr lang="en-US" b="false" i="false" strike="noStrike" u="none" sz="1400">
                <a:solidFill>
                  <a:srgbClr val="FFFFFF">
                    <a:alpha val="85098"/>
                  </a:srgbClr>
                </a:solidFill>
                <a:latin typeface="Noto Sans SC"/>
                <a:ea typeface="Noto Sans SC"/>
                <a:cs typeface="Noto Sans SC"/>
                <a:sym typeface="Noto Sans SC"/>
              </a:rPr>
              <a:t>精准过滤无关内容，大幅减少上下文冗余，提升最终答案的相关性与内容质量。</a:t>
            </a:r>
            <a:endParaRPr lang="en-US" sz="1100"/>
          </a:p>
        </p:txBody>
      </p:sp>
      <p:sp>
        <p:nvSpPr>
          <p:cNvPr name="AutoShape 24" id="24"/>
          <p:cNvSpPr/>
          <p:nvPr/>
        </p:nvSpPr>
        <p:spPr>
          <a:xfrm rot="0" flipH="false" flipV="false">
            <a:off x="762000" y="5969000"/>
            <a:ext cx="10668000" cy="508000"/>
          </a:xfrm>
          <a:prstGeom prst="roundRect">
            <a:avLst>
              <a:gd name="adj" fmla="val 0"/>
            </a:avLst>
          </a:prstGeom>
          <a:solidFill>
            <a:srgbClr val="4ADE8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762000" y="5969000"/>
            <a:ext cx="1066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通过“改写-混合-重排”三步走策略，构建精准、高效、高召回的检索系统核心链路。</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F2329">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4445000"/>
            <a:ext cx="5080000" cy="5080000"/>
          </a:xfrm>
          <a:prstGeom prst="ellipse">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1270000"/>
            <a:ext cx="6350000" cy="6350000"/>
          </a:xfrm>
          <a:prstGeom prst="ellipse">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分块优化策略</a:t>
            </a:r>
            <a:endParaRPr lang="en-US" sz="1100"/>
          </a:p>
        </p:txBody>
      </p:sp>
      <p:sp>
        <p:nvSpPr>
          <p:cNvPr name="AutoShape 5" id="5"/>
          <p:cNvSpPr/>
          <p:nvPr/>
        </p:nvSpPr>
        <p:spPr>
          <a:xfrm rot="0" flipH="false" flipV="false">
            <a:off x="762000" y="1397000"/>
            <a:ext cx="7620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159000"/>
            <a:ext cx="3378200" cy="3429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159000"/>
            <a:ext cx="33782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476500"/>
            <a:ext cx="406400" cy="406400"/>
          </a:xfrm>
          <a:prstGeom prst="rect">
            <a:avLst/>
          </a:prstGeom>
        </p:spPr>
      </p:pic>
      <p:sp>
        <p:nvSpPr>
          <p:cNvPr name="AutoShape 9" id="9"/>
          <p:cNvSpPr/>
          <p:nvPr/>
        </p:nvSpPr>
        <p:spPr>
          <a:xfrm rot="0" flipH="false" flipV="false">
            <a:off x="1587500" y="2438400"/>
            <a:ext cx="22987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分层分块</a:t>
            </a:r>
            <a:endParaRPr lang="en-US" sz="1100"/>
          </a:p>
        </p:txBody>
      </p:sp>
      <p:cxnSp>
        <p:nvCxnSpPr>
          <p:cNvPr name="Connector 10" id="10"/>
          <p:cNvCxnSpPr/>
          <p:nvPr/>
        </p:nvCxnSpPr>
        <p:spPr>
          <a:xfrm rot="-15211" flipH="false" flipV="false">
            <a:off x="1016014" y="3168650"/>
            <a:ext cx="28702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1" id="11"/>
          <p:cNvSpPr/>
          <p:nvPr/>
        </p:nvSpPr>
        <p:spPr>
          <a:xfrm rot="0" flipH="false" flipV="false">
            <a:off x="1016000" y="3429000"/>
            <a:ext cx="2870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FFFFF">
                    <a:alpha val="70196"/>
                  </a:srgbClr>
                </a:solidFill>
                <a:latin typeface="Noto Sans SC"/>
                <a:ea typeface="Noto Sans SC"/>
                <a:cs typeface="Noto Sans SC"/>
                <a:sym typeface="Noto Sans SC"/>
              </a:rPr>
              <a:t>严格遵循文档原生的标题层级结构（一级、二级标题）进行结构化切割，让分块边界贴合内容的章节划分。</a:t>
            </a:r>
            <a:endParaRPr lang="en-US" sz="1100"/>
          </a:p>
        </p:txBody>
      </p:sp>
      <p:sp>
        <p:nvSpPr>
          <p:cNvPr name="AutoShape 12" id="12"/>
          <p:cNvSpPr/>
          <p:nvPr/>
        </p:nvSpPr>
        <p:spPr>
          <a:xfrm rot="0" flipH="false" flipV="false">
            <a:off x="1016000" y="5080000"/>
            <a:ext cx="2870200" cy="6985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143000" y="5181600"/>
            <a:ext cx="2616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22C55E"/>
                </a:solidFill>
                <a:latin typeface="Noto Sans SC"/>
                <a:ea typeface="Noto Sans SC"/>
                <a:cs typeface="Noto Sans SC"/>
                <a:sym typeface="Noto Sans SC"/>
              </a:rPr>
              <a:t>核心优势：</a:t>
            </a:r>
            <a:r>
              <a:rPr lang="en-US" b="false" i="false" strike="noStrike" u="none" sz="1300">
                <a:solidFill>
                  <a:srgbClr val="FFFFFF">
                    <a:alpha val="80000"/>
                  </a:srgbClr>
                </a:solidFill>
                <a:latin typeface="Noto Sans SC"/>
                <a:ea typeface="Noto Sans SC"/>
                <a:cs typeface="Noto Sans SC"/>
                <a:sym typeface="Noto Sans SC"/>
              </a:rPr>
              <a:t>完整保留语义单元，逻辑脉络清晰，符合用户阅读习惯。</a:t>
            </a:r>
            <a:endParaRPr lang="en-US" sz="1100"/>
          </a:p>
        </p:txBody>
      </p:sp>
      <p:sp>
        <p:nvSpPr>
          <p:cNvPr name="AutoShape 14" id="14"/>
          <p:cNvSpPr/>
          <p:nvPr/>
        </p:nvSpPr>
        <p:spPr>
          <a:xfrm rot="0" flipH="false" flipV="false">
            <a:off x="4394200" y="2159000"/>
            <a:ext cx="3378200" cy="3429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394200" y="2159000"/>
            <a:ext cx="33782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48200" y="2476500"/>
            <a:ext cx="406400" cy="406400"/>
          </a:xfrm>
          <a:prstGeom prst="rect">
            <a:avLst/>
          </a:prstGeom>
        </p:spPr>
      </p:pic>
      <p:sp>
        <p:nvSpPr>
          <p:cNvPr name="AutoShape 17" id="17"/>
          <p:cNvSpPr/>
          <p:nvPr/>
        </p:nvSpPr>
        <p:spPr>
          <a:xfrm rot="0" flipH="false" flipV="false">
            <a:off x="5219700" y="2438400"/>
            <a:ext cx="22987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动态分块</a:t>
            </a:r>
            <a:endParaRPr lang="en-US" sz="1100"/>
          </a:p>
        </p:txBody>
      </p:sp>
      <p:cxnSp>
        <p:nvCxnSpPr>
          <p:cNvPr name="Connector 18" id="18"/>
          <p:cNvCxnSpPr/>
          <p:nvPr/>
        </p:nvCxnSpPr>
        <p:spPr>
          <a:xfrm rot="-15211" flipH="false" flipV="false">
            <a:off x="4648214" y="3168650"/>
            <a:ext cx="28702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9" id="19"/>
          <p:cNvSpPr/>
          <p:nvPr/>
        </p:nvSpPr>
        <p:spPr>
          <a:xfrm rot="0" flipH="false" flipV="false">
            <a:off x="4648200" y="3429000"/>
            <a:ext cx="2870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FFFFF">
                    <a:alpha val="70196"/>
                  </a:srgbClr>
                </a:solidFill>
                <a:latin typeface="Noto Sans SC"/>
                <a:ea typeface="Noto Sans SC"/>
                <a:cs typeface="Noto Sans SC"/>
                <a:sym typeface="Noto Sans SC"/>
              </a:rPr>
              <a:t>不再采用固定长度切割，而是基于段落语义的连贯性智能调整块的长度，确保句子与核心观点的完整性。</a:t>
            </a:r>
            <a:endParaRPr lang="en-US" sz="1100"/>
          </a:p>
        </p:txBody>
      </p:sp>
      <p:sp>
        <p:nvSpPr>
          <p:cNvPr name="AutoShape 20" id="20"/>
          <p:cNvSpPr/>
          <p:nvPr/>
        </p:nvSpPr>
        <p:spPr>
          <a:xfrm rot="0" flipH="false" flipV="false">
            <a:off x="4648200" y="5080000"/>
            <a:ext cx="2870200" cy="6985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775200" y="5181600"/>
            <a:ext cx="2616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22C55E"/>
                </a:solidFill>
                <a:latin typeface="Noto Sans SC"/>
                <a:ea typeface="Noto Sans SC"/>
                <a:cs typeface="Noto Sans SC"/>
                <a:sym typeface="Noto Sans SC"/>
              </a:rPr>
              <a:t>核心优势：</a:t>
            </a:r>
            <a:r>
              <a:rPr lang="en-US" b="false" i="false" strike="noStrike" u="none" sz="1300">
                <a:solidFill>
                  <a:srgbClr val="FFFFFF">
                    <a:alpha val="80000"/>
                  </a:srgbClr>
                </a:solidFill>
                <a:latin typeface="Noto Sans SC"/>
                <a:ea typeface="Noto Sans SC"/>
                <a:cs typeface="Noto Sans SC"/>
                <a:sym typeface="Noto Sans SC"/>
              </a:rPr>
              <a:t>避免关键信息或完整语句被生硬拆分，提升内容理解度。</a:t>
            </a:r>
            <a:endParaRPr lang="en-US" sz="1100"/>
          </a:p>
        </p:txBody>
      </p:sp>
      <p:sp>
        <p:nvSpPr>
          <p:cNvPr name="AutoShape 22" id="22"/>
          <p:cNvSpPr/>
          <p:nvPr/>
        </p:nvSpPr>
        <p:spPr>
          <a:xfrm rot="0" flipH="false" flipV="false">
            <a:off x="8026400" y="2159000"/>
            <a:ext cx="3378200" cy="34290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026400" y="2159000"/>
            <a:ext cx="33782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80400" y="2476500"/>
            <a:ext cx="406400" cy="406400"/>
          </a:xfrm>
          <a:prstGeom prst="rect">
            <a:avLst/>
          </a:prstGeom>
        </p:spPr>
      </p:pic>
      <p:sp>
        <p:nvSpPr>
          <p:cNvPr name="AutoShape 25" id="25"/>
          <p:cNvSpPr/>
          <p:nvPr/>
        </p:nvSpPr>
        <p:spPr>
          <a:xfrm rot="0" flipH="false" flipV="false">
            <a:off x="8851900" y="2438400"/>
            <a:ext cx="22987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重叠滑动窗口</a:t>
            </a:r>
            <a:endParaRPr lang="en-US" sz="1100"/>
          </a:p>
        </p:txBody>
      </p:sp>
      <p:cxnSp>
        <p:nvCxnSpPr>
          <p:cNvPr name="Connector 26" id="26"/>
          <p:cNvCxnSpPr/>
          <p:nvPr/>
        </p:nvCxnSpPr>
        <p:spPr>
          <a:xfrm rot="-15211" flipH="false" flipV="false">
            <a:off x="8280414" y="3168650"/>
            <a:ext cx="28702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27" id="27"/>
          <p:cNvSpPr/>
          <p:nvPr/>
        </p:nvSpPr>
        <p:spPr>
          <a:xfrm rot="0" flipH="false" flipV="false">
            <a:off x="8280400" y="3429000"/>
            <a:ext cx="2870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FFFFF">
                    <a:alpha val="70196"/>
                  </a:srgbClr>
                </a:solidFill>
                <a:latin typeface="Noto Sans SC"/>
                <a:ea typeface="Noto Sans SC"/>
                <a:cs typeface="Noto Sans SC"/>
                <a:sym typeface="Noto Sans SC"/>
              </a:rPr>
              <a:t>在相邻分块之间设置一定比例（如15%）的文本重叠区域，使信息在块间平滑过渡，不产生硬性割裂。</a:t>
            </a:r>
            <a:endParaRPr lang="en-US" sz="1100"/>
          </a:p>
        </p:txBody>
      </p:sp>
      <p:sp>
        <p:nvSpPr>
          <p:cNvPr name="AutoShape 28" id="28"/>
          <p:cNvSpPr/>
          <p:nvPr/>
        </p:nvSpPr>
        <p:spPr>
          <a:xfrm rot="0" flipH="false" flipV="false">
            <a:off x="8280400" y="5080000"/>
            <a:ext cx="2870200" cy="6985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407400" y="5181600"/>
            <a:ext cx="2616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22C55E"/>
                </a:solidFill>
                <a:latin typeface="Noto Sans SC"/>
                <a:ea typeface="Noto Sans SC"/>
                <a:cs typeface="Noto Sans SC"/>
                <a:sym typeface="Noto Sans SC"/>
              </a:rPr>
              <a:t>核心优势：</a:t>
            </a:r>
            <a:r>
              <a:rPr lang="en-US" b="false" i="false" strike="noStrike" u="none" sz="1300">
                <a:solidFill>
                  <a:srgbClr val="FFFFFF">
                    <a:alpha val="80000"/>
                  </a:srgbClr>
                </a:solidFill>
                <a:latin typeface="Noto Sans SC"/>
                <a:ea typeface="Noto Sans SC"/>
                <a:cs typeface="Noto Sans SC"/>
                <a:sym typeface="Noto Sans SC"/>
              </a:rPr>
              <a:t>有效消除因分割造成的上下文断裂，确保长文本逻辑的连续性。</a:t>
            </a:r>
            <a:endParaRPr lang="en-US" sz="1100"/>
          </a:p>
        </p:txBody>
      </p:sp>
      <p:sp>
        <p:nvSpPr>
          <p:cNvPr name="AutoShape 30" id="30"/>
          <p:cNvSpPr/>
          <p:nvPr/>
        </p:nvSpPr>
        <p:spPr>
          <a:xfrm rot="0" flipH="false" flipV="false">
            <a:off x="762000" y="6096000"/>
            <a:ext cx="10668000" cy="508000"/>
          </a:xfrm>
          <a:prstGeom prst="roundRect">
            <a:avLst>
              <a:gd name="adj" fmla="val 0"/>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762000" y="6197600"/>
            <a:ext cx="1066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总结：科学的分块策略是提升检索召回率与准确率的基石，需兼顾语义完整性与上下文连续性。</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C2C2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上下文窗口约束规范</a:t>
            </a:r>
            <a:endParaRPr lang="en-US" sz="1100"/>
          </a:p>
        </p:txBody>
      </p:sp>
      <p:sp>
        <p:nvSpPr>
          <p:cNvPr name="AutoShape 3" id="3"/>
          <p:cNvSpPr/>
          <p:nvPr/>
        </p:nvSpPr>
        <p:spPr>
          <a:xfrm rot="0" flipH="false" flipV="false">
            <a:off x="762000" y="1905000"/>
            <a:ext cx="10668000" cy="1397000"/>
          </a:xfrm>
          <a:prstGeom prst="roundRect">
            <a:avLst>
              <a:gd name="adj" fmla="val 0"/>
            </a:avLst>
          </a:prstGeom>
          <a:solidFill>
            <a:srgbClr val="10E678">
              <a:alpha val="10000"/>
            </a:srgbClr>
          </a:solidFill>
          <a:ln w="25400" cmpd="sng" cap="flat">
            <a:solidFill>
              <a:srgbClr val="10E678">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95500"/>
            <a:ext cx="3175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6000">
                <a:solidFill>
                  <a:srgbClr val="10E678"/>
                </a:solidFill>
                <a:latin typeface="Noto Sans SC"/>
                <a:ea typeface="Noto Sans SC"/>
                <a:cs typeface="Noto Sans SC"/>
                <a:sym typeface="Noto Sans SC"/>
              </a:rPr>
              <a:t>≤ 70%</a:t>
            </a:r>
            <a:endParaRPr lang="en-US" sz="1100"/>
          </a:p>
        </p:txBody>
      </p:sp>
      <p:cxnSp>
        <p:nvCxnSpPr>
          <p:cNvPr name="Connector 5" id="5"/>
          <p:cNvCxnSpPr/>
          <p:nvPr/>
        </p:nvCxnSpPr>
        <p:spPr>
          <a:xfrm rot="5357030" flipH="false" flipV="false">
            <a:off x="3937000" y="2597190"/>
            <a:ext cx="1016000" cy="12700"/>
          </a:xfrm>
          <a:prstGeom prst="line">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6" id="6"/>
          <p:cNvSpPr/>
          <p:nvPr/>
        </p:nvSpPr>
        <p:spPr>
          <a:xfrm rot="0" flipH="false" flipV="false">
            <a:off x="4699000" y="2095500"/>
            <a:ext cx="647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800">
                <a:solidFill>
                  <a:srgbClr val="FFFFFF"/>
                </a:solidFill>
                <a:latin typeface="Noto Sans SC"/>
                <a:ea typeface="Noto Sans SC"/>
                <a:cs typeface="Noto Sans SC"/>
                <a:sym typeface="Noto Sans SC"/>
              </a:rPr>
              <a:t>核心原则：检索片段总字符数上限</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FFFFFF">
                    <a:alpha val="80000"/>
                  </a:srgbClr>
                </a:solidFill>
                <a:latin typeface="Noto Sans SC"/>
                <a:ea typeface="Noto Sans SC"/>
                <a:cs typeface="Noto Sans SC"/>
                <a:sym typeface="Noto Sans SC"/>
              </a:rPr>
              <a:t>严格控制检索文本的总长度，使其不超过模型上下文窗口容量的70%，为后续流程保留必要的Token空间，保障交互完整性。</a:t>
            </a:r>
          </a:p>
        </p:txBody>
      </p:sp>
      <p:sp>
        <p:nvSpPr>
          <p:cNvPr name="AutoShape 7" id="7"/>
          <p:cNvSpPr/>
          <p:nvPr/>
        </p:nvSpPr>
        <p:spPr>
          <a:xfrm rot="0" flipH="false" flipV="false">
            <a:off x="762000" y="3810000"/>
            <a:ext cx="5207000" cy="12065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4000500"/>
            <a:ext cx="406400" cy="406400"/>
          </a:xfrm>
          <a:prstGeom prst="rect">
            <a:avLst/>
          </a:prstGeom>
        </p:spPr>
      </p:pic>
      <p:sp>
        <p:nvSpPr>
          <p:cNvPr name="AutoShape 9" id="9"/>
          <p:cNvSpPr/>
          <p:nvPr/>
        </p:nvSpPr>
        <p:spPr>
          <a:xfrm rot="0" flipH="false" flipV="false">
            <a:off x="1524000" y="3937000"/>
            <a:ext cx="4254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预留关键Token空间</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FFFFFF">
                    <a:alpha val="70196"/>
                  </a:srgbClr>
                </a:solidFill>
                <a:latin typeface="Noto Sans SC"/>
                <a:ea typeface="Noto Sans SC"/>
                <a:cs typeface="Noto Sans SC"/>
                <a:sym typeface="Noto Sans SC"/>
              </a:rPr>
              <a:t>需为用户原始问题、系统提示词（System Prompt）以及模型生成的回答内容，提前预留充足的Token额度，避免关键流程被资源挤占。</a:t>
            </a:r>
          </a:p>
        </p:txBody>
      </p:sp>
      <p:sp>
        <p:nvSpPr>
          <p:cNvPr name="AutoShape 10" id="10"/>
          <p:cNvSpPr/>
          <p:nvPr/>
        </p:nvSpPr>
        <p:spPr>
          <a:xfrm rot="0" flipH="false" flipV="false">
            <a:off x="762000" y="5207000"/>
            <a:ext cx="5207000" cy="12065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5397500"/>
            <a:ext cx="406400" cy="406400"/>
          </a:xfrm>
          <a:prstGeom prst="rect">
            <a:avLst/>
          </a:prstGeom>
        </p:spPr>
      </p:pic>
      <p:sp>
        <p:nvSpPr>
          <p:cNvPr name="AutoShape 12" id="12"/>
          <p:cNvSpPr/>
          <p:nvPr/>
        </p:nvSpPr>
        <p:spPr>
          <a:xfrm rot="0" flipH="false" flipV="false">
            <a:off x="1524000" y="5334000"/>
            <a:ext cx="4254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防止信息被强制截断</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FFFFFF">
                    <a:alpha val="70196"/>
                  </a:srgbClr>
                </a:solidFill>
                <a:latin typeface="Noto Sans SC"/>
                <a:ea typeface="Noto Sans SC"/>
                <a:cs typeface="Noto Sans SC"/>
                <a:sym typeface="Noto Sans SC"/>
              </a:rPr>
              <a:t>输入内容一旦超出模型上下文长度限制，尾部信息会被自动截断，造成关键上下文丢失，直接破坏语境完整性并降低回答准确性。</a:t>
            </a:r>
          </a:p>
        </p:txBody>
      </p:sp>
      <p:sp>
        <p:nvSpPr>
          <p:cNvPr name="AutoShape 13" id="13"/>
          <p:cNvSpPr/>
          <p:nvPr/>
        </p:nvSpPr>
        <p:spPr>
          <a:xfrm rot="0" flipH="false" flipV="false">
            <a:off x="6223000" y="3810000"/>
            <a:ext cx="5207000" cy="26035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13500" y="4000500"/>
            <a:ext cx="406400" cy="406400"/>
          </a:xfrm>
          <a:prstGeom prst="rect">
            <a:avLst/>
          </a:prstGeom>
        </p:spPr>
      </p:pic>
      <p:sp>
        <p:nvSpPr>
          <p:cNvPr name="AutoShape 15" id="15"/>
          <p:cNvSpPr/>
          <p:nvPr/>
        </p:nvSpPr>
        <p:spPr>
          <a:xfrm rot="0" flipH="false" flipV="false">
            <a:off x="6985000" y="3937000"/>
            <a:ext cx="4254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高相似度优先的截断策略</a:t>
            </a:r>
            <a:endParaRPr lang="en-US" sz="1100"/>
          </a:p>
        </p:txBody>
      </p:sp>
      <p:cxnSp>
        <p:nvCxnSpPr>
          <p:cNvPr name="Connector 16" id="16"/>
          <p:cNvCxnSpPr/>
          <p:nvPr/>
        </p:nvCxnSpPr>
        <p:spPr>
          <a:xfrm rot="-9046" flipH="false" flipV="false">
            <a:off x="6413508" y="4629150"/>
            <a:ext cx="4826000" cy="12700"/>
          </a:xfrm>
          <a:prstGeom prst="line">
            <a:avLst/>
          </a:prstGeom>
          <a:solidFill>
            <a:srgbClr val="DEE0E3">
              <a:alpha val="100000"/>
            </a:srgbClr>
          </a:solidFill>
          <a:ln w="12700" cmpd="sng" cap="flat">
            <a:solidFill>
              <a:srgbClr val="FFFFFF">
                <a:alpha val="15000"/>
              </a:srgbClr>
            </a:solidFill>
            <a:prstDash val="dash"/>
            <a:round/>
            <a:headEnd type="none" w="med" len="med"/>
            <a:tailEnd type="none" w="med" len="med"/>
          </a:ln>
        </p:spPr>
      </p:cxnSp>
      <p:sp>
        <p:nvSpPr>
          <p:cNvPr name="AutoShape 17" id="17"/>
          <p:cNvSpPr/>
          <p:nvPr/>
        </p:nvSpPr>
        <p:spPr>
          <a:xfrm rot="0" flipH="false" flipV="false">
            <a:off x="6413500" y="4826000"/>
            <a:ext cx="4826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0000"/>
                  </a:srgbClr>
                </a:solidFill>
                <a:latin typeface="Noto Sans SC"/>
                <a:ea typeface="Noto Sans SC"/>
                <a:cs typeface="Noto Sans SC"/>
                <a:sym typeface="Noto Sans SC"/>
              </a:rPr>
              <a:t>当检索召回的相关文本片段数量过多、总字符数超标时，应依据“相似度得分”进行降序排序，仅保留匹配度最高的前N个核心片段。这种方式能在严格控制输入长度的同时，最大程度保留与用户问题最相关的关键信息，确保模型始终聚焦于核心语境生成精准、高质量的回答。</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1C1C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651000"/>
            <a:ext cx="12192000" cy="228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0">
                <a:solidFill>
                  <a:srgbClr val="00E582">
                    <a:alpha val="12157"/>
                  </a:srgbClr>
                </a:solidFill>
                <a:latin typeface="Noto Sans SC"/>
                <a:ea typeface="Noto Sans SC"/>
                <a:cs typeface="Noto Sans SC"/>
                <a:sym typeface="Noto Sans SC"/>
              </a:rPr>
              <a:t>04</a:t>
            </a:r>
            <a:endParaRPr lang="en-US" sz="1100"/>
          </a:p>
        </p:txBody>
      </p:sp>
      <p:sp>
        <p:nvSpPr>
          <p:cNvPr name="AutoShape 3" id="3"/>
          <p:cNvSpPr/>
          <p:nvPr/>
        </p:nvSpPr>
        <p:spPr>
          <a:xfrm rot="0" flipH="false" flipV="false">
            <a:off x="0" y="4191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FFFFFF"/>
                </a:solidFill>
                <a:latin typeface="Noto Sans SC"/>
                <a:ea typeface="Noto Sans SC"/>
                <a:cs typeface="Noto Sans SC"/>
                <a:sym typeface="Noto Sans SC"/>
              </a:rPr>
              <a:t>RAG数据集构建规范</a:t>
            </a:r>
            <a:endParaRPr lang="en-US" sz="1100"/>
          </a:p>
        </p:txBody>
      </p:sp>
      <p:sp>
        <p:nvSpPr>
          <p:cNvPr name="AutoShape 4" id="4"/>
          <p:cNvSpPr/>
          <p:nvPr/>
        </p:nvSpPr>
        <p:spPr>
          <a:xfrm rot="0" flipH="false" flipV="false">
            <a:off x="5461000" y="5397500"/>
            <a:ext cx="1270000" cy="38100"/>
          </a:xfrm>
          <a:prstGeom prst="roundRect">
            <a:avLst>
              <a:gd name="adj" fmla="val 0"/>
            </a:avLst>
          </a:prstGeom>
          <a:solidFill>
            <a:srgbClr val="00E58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5715000"/>
            <a:ext cx="1016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500">
                <a:solidFill>
                  <a:srgbClr val="E5E7EB">
                    <a:alpha val="80000"/>
                  </a:srgbClr>
                </a:solidFill>
                <a:latin typeface="Noto Sans SC"/>
                <a:ea typeface="Noto Sans SC"/>
                <a:cs typeface="Noto Sans SC"/>
                <a:sym typeface="Noto Sans SC"/>
              </a:rPr>
              <a:t>工欲善其事，必先利其器。标准化的数据集构建流程，是保障RAG系统准确性与可靠性的核心基石，为后续检索增强生成提供高质量的知识支撑。</a:t>
            </a:r>
            <a:endParaRPr lang="en-US" sz="1100"/>
          </a:p>
        </p:txBody>
      </p:sp>
      <p:sp>
        <p:nvSpPr>
          <p:cNvPr name="AutoShape 6" id="6"/>
          <p:cNvSpPr/>
          <p:nvPr/>
        </p:nvSpPr>
        <p:spPr>
          <a:xfrm rot="0" flipH="false" flipV="false">
            <a:off x="508000" y="508000"/>
            <a:ext cx="76200" cy="508000"/>
          </a:xfrm>
          <a:prstGeom prst="roundRect">
            <a:avLst>
              <a:gd name="adj" fmla="val 0"/>
            </a:avLst>
          </a:prstGeom>
          <a:solidFill>
            <a:srgbClr val="00E582">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1353800" y="5842000"/>
            <a:ext cx="76200" cy="508000"/>
          </a:xfrm>
          <a:prstGeom prst="roundRect">
            <a:avLst>
              <a:gd name="adj" fmla="val 0"/>
            </a:avLst>
          </a:prstGeom>
          <a:solidFill>
            <a:srgbClr val="00E582">
              <a:alpha val="6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6262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数据集原始文档制作标准</a:t>
            </a:r>
            <a:endParaRPr lang="en-US" sz="1100"/>
          </a:p>
        </p:txBody>
      </p:sp>
      <p:sp>
        <p:nvSpPr>
          <p:cNvPr name="AutoShape 3" id="3"/>
          <p:cNvSpPr/>
          <p:nvPr/>
        </p:nvSpPr>
        <p:spPr>
          <a:xfrm rot="0" flipH="false" flipV="false">
            <a:off x="762000" y="1397000"/>
            <a:ext cx="762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905000"/>
            <a:ext cx="5270500" cy="2222500"/>
          </a:xfrm>
          <a:prstGeom prst="roundRect">
            <a:avLst>
              <a:gd name="adj" fmla="val 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159000"/>
            <a:ext cx="304800" cy="304800"/>
          </a:xfrm>
          <a:prstGeom prst="rect">
            <a:avLst/>
          </a:prstGeom>
        </p:spPr>
      </p:pic>
      <p:sp>
        <p:nvSpPr>
          <p:cNvPr name="AutoShape 6" id="6"/>
          <p:cNvSpPr/>
          <p:nvPr/>
        </p:nvSpPr>
        <p:spPr>
          <a:xfrm rot="0" flipH="false" flipV="false">
            <a:off x="1524000" y="21336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格式规范化要求</a:t>
            </a:r>
            <a:endParaRPr lang="en-US" sz="1100"/>
          </a:p>
        </p:txBody>
      </p:sp>
      <p:cxnSp>
        <p:nvCxnSpPr>
          <p:cNvPr name="Connector 7" id="7"/>
          <p:cNvCxnSpPr/>
          <p:nvPr/>
        </p:nvCxnSpPr>
        <p:spPr>
          <a:xfrm rot="-9167" flipH="false" flipV="false">
            <a:off x="1016008" y="2660650"/>
            <a:ext cx="47625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8" id="8"/>
          <p:cNvSpPr/>
          <p:nvPr/>
        </p:nvSpPr>
        <p:spPr>
          <a:xfrm rot="0" flipH="false" flipV="false">
            <a:off x="1016000" y="2857500"/>
            <a:ext cx="2349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4ADE80"/>
                </a:solidFill>
                <a:latin typeface="Noto Sans SC"/>
                <a:ea typeface="Noto Sans SC"/>
                <a:cs typeface="Noto Sans SC"/>
                <a:sym typeface="Noto Sans SC"/>
              </a:rPr>
              <a:t>优先格式：PDF</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FFFFFF">
                    <a:alpha val="70196"/>
                  </a:srgbClr>
                </a:solidFill>
                <a:latin typeface="Noto Sans SC"/>
                <a:ea typeface="Noto Sans SC"/>
                <a:cs typeface="Noto Sans SC"/>
                <a:sym typeface="Noto Sans SC"/>
              </a:rPr>
              <a:t>需为纯文本、无加密、非扫描件的可编辑PDF，确保文本内容可被程序准确提取。</a:t>
            </a:r>
          </a:p>
        </p:txBody>
      </p:sp>
      <p:cxnSp>
        <p:nvCxnSpPr>
          <p:cNvPr name="Connector 9" id="9"/>
          <p:cNvCxnSpPr/>
          <p:nvPr/>
        </p:nvCxnSpPr>
        <p:spPr>
          <a:xfrm rot="5357030" flipH="false" flipV="false">
            <a:off x="2984500" y="3422690"/>
            <a:ext cx="1016000" cy="12700"/>
          </a:xfrm>
          <a:prstGeom prst="straightConnector1">
            <a:avLst/>
          </a:prstGeom>
          <a:solidFill>
            <a:srgbClr val="DEE0E3">
              <a:alpha val="100000"/>
            </a:srgbClr>
          </a:solidFill>
          <a:ln w="12700" cmpd="sng" cap="flat">
            <a:solidFill>
              <a:srgbClr val="FFFFFF">
                <a:alpha val="10000"/>
              </a:srgbClr>
            </a:solidFill>
            <a:prstDash val="dash"/>
            <a:round/>
            <a:headEnd type="none" w="med" len="med"/>
            <a:tailEnd type="none" w="med" len="med"/>
          </a:ln>
        </p:spPr>
      </p:cxnSp>
      <p:sp>
        <p:nvSpPr>
          <p:cNvPr name="AutoShape 10" id="10"/>
          <p:cNvSpPr/>
          <p:nvPr/>
        </p:nvSpPr>
        <p:spPr>
          <a:xfrm rot="0" flipH="false" flipV="false">
            <a:off x="3619500" y="2857500"/>
            <a:ext cx="2349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F87171"/>
                </a:solidFill>
                <a:latin typeface="Noto Sans SC"/>
                <a:ea typeface="Noto Sans SC"/>
                <a:cs typeface="Noto Sans SC"/>
                <a:sym typeface="Noto Sans SC"/>
              </a:rPr>
              <a:t>禁止使用格式</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FFFFFF">
                    <a:alpha val="70196"/>
                  </a:srgbClr>
                </a:solidFill>
                <a:latin typeface="Noto Sans SC"/>
                <a:ea typeface="Noto Sans SC"/>
                <a:cs typeface="Noto Sans SC"/>
                <a:sym typeface="Noto Sans SC"/>
              </a:rPr>
              <a:t>加密PDF、有水印遮挡的文档、手写/拍摄的图片格式，此类内容无法有效解析与清洗。</a:t>
            </a:r>
          </a:p>
        </p:txBody>
      </p:sp>
      <p:sp>
        <p:nvSpPr>
          <p:cNvPr name="AutoShape 11" id="11"/>
          <p:cNvSpPr/>
          <p:nvPr/>
        </p:nvSpPr>
        <p:spPr>
          <a:xfrm rot="0" flipH="false" flipV="false">
            <a:off x="762000" y="4381500"/>
            <a:ext cx="5270500" cy="2222500"/>
          </a:xfrm>
          <a:prstGeom prst="roundRect">
            <a:avLst>
              <a:gd name="adj" fmla="val 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635500"/>
            <a:ext cx="304800" cy="304800"/>
          </a:xfrm>
          <a:prstGeom prst="rect">
            <a:avLst/>
          </a:prstGeom>
        </p:spPr>
      </p:pic>
      <p:sp>
        <p:nvSpPr>
          <p:cNvPr name="AutoShape 13" id="13"/>
          <p:cNvSpPr/>
          <p:nvPr/>
        </p:nvSpPr>
        <p:spPr>
          <a:xfrm rot="0" flipH="false" flipV="false">
            <a:off x="1524000" y="46101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文本内容清洗规则</a:t>
            </a:r>
            <a:endParaRPr lang="en-US" sz="1100"/>
          </a:p>
        </p:txBody>
      </p:sp>
      <p:cxnSp>
        <p:nvCxnSpPr>
          <p:cNvPr name="Connector 14" id="14"/>
          <p:cNvCxnSpPr/>
          <p:nvPr/>
        </p:nvCxnSpPr>
        <p:spPr>
          <a:xfrm rot="-9167" flipH="false" flipV="false">
            <a:off x="1016008" y="5137150"/>
            <a:ext cx="47625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5" id="15"/>
          <p:cNvSpPr/>
          <p:nvPr/>
        </p:nvSpPr>
        <p:spPr>
          <a:xfrm rot="0" flipH="false" flipV="false">
            <a:off x="1016000" y="5270500"/>
            <a:ext cx="152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E5E7EB"/>
                </a:solidFill>
                <a:latin typeface="Noto Sans SC"/>
                <a:ea typeface="Noto Sans SC"/>
                <a:cs typeface="Noto Sans SC"/>
                <a:sym typeface="Noto Sans SC"/>
              </a:rPr>
              <a:t>移除杂质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FFFFFF">
                    <a:alpha val="60000"/>
                  </a:srgbClr>
                </a:solidFill>
                <a:latin typeface="Noto Sans SC"/>
                <a:ea typeface="Noto Sans SC"/>
                <a:cs typeface="Noto Sans SC"/>
                <a:sym typeface="Noto Sans SC"/>
              </a:rPr>
              <a:t>删除页码、页眉页脚、广告及目录中的重复条目，净化正文。</a:t>
            </a:r>
          </a:p>
        </p:txBody>
      </p:sp>
      <p:cxnSp>
        <p:nvCxnSpPr>
          <p:cNvPr name="Connector 16" id="16"/>
          <p:cNvCxnSpPr/>
          <p:nvPr/>
        </p:nvCxnSpPr>
        <p:spPr>
          <a:xfrm rot="5354166" flipH="false" flipV="false">
            <a:off x="2190750" y="5803942"/>
            <a:ext cx="9525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7" id="17"/>
          <p:cNvSpPr/>
          <p:nvPr/>
        </p:nvSpPr>
        <p:spPr>
          <a:xfrm rot="0" flipH="false" flipV="false">
            <a:off x="2794000" y="52705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E5E7EB"/>
                </a:solidFill>
                <a:latin typeface="Noto Sans SC"/>
                <a:ea typeface="Noto Sans SC"/>
                <a:cs typeface="Noto Sans SC"/>
                <a:sym typeface="Noto Sans SC"/>
              </a:rPr>
              <a:t>规整表达</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FFFFFF">
                    <a:alpha val="60000"/>
                  </a:srgbClr>
                </a:solidFill>
                <a:latin typeface="Noto Sans SC"/>
                <a:ea typeface="Noto Sans SC"/>
                <a:cs typeface="Noto Sans SC"/>
                <a:sym typeface="Noto Sans SC"/>
              </a:rPr>
              <a:t>合并因换行被割裂的完整句子，去除多余空行，统一中英文标点符号，提升可读性。</a:t>
            </a:r>
          </a:p>
        </p:txBody>
      </p:sp>
      <p:cxnSp>
        <p:nvCxnSpPr>
          <p:cNvPr name="Connector 18" id="18"/>
          <p:cNvCxnSpPr/>
          <p:nvPr/>
        </p:nvCxnSpPr>
        <p:spPr>
          <a:xfrm rot="5390708" flipH="false" flipV="false">
            <a:off x="4000500" y="4248159"/>
            <a:ext cx="4699000" cy="12700"/>
          </a:xfrm>
          <a:prstGeom prst="straightConnector1">
            <a:avLst/>
          </a:prstGeom>
          <a:solidFill>
            <a:srgbClr val="DEE0E3">
              <a:alpha val="100000"/>
            </a:srgbClr>
          </a:solidFill>
          <a:ln w="12700" cmpd="sng" cap="flat">
            <a:solidFill>
              <a:srgbClr val="FFFFFF">
                <a:alpha val="10000"/>
              </a:srgbClr>
            </a:solidFill>
            <a:prstDash val="dash"/>
            <a:round/>
            <a:headEnd type="none" w="med" len="med"/>
            <a:tailEnd type="none" w="med" len="med"/>
          </a:ln>
        </p:spPr>
      </p:cxnSp>
      <p:sp>
        <p:nvSpPr>
          <p:cNvPr name="AutoShape 19" id="19"/>
          <p:cNvSpPr/>
          <p:nvPr/>
        </p:nvSpPr>
        <p:spPr>
          <a:xfrm rot="0" flipH="false" flipV="false">
            <a:off x="6604000" y="1905000"/>
            <a:ext cx="5080000" cy="4699000"/>
          </a:xfrm>
          <a:prstGeom prst="roundRect">
            <a:avLst>
              <a:gd name="adj" fmla="val 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858000" y="2159000"/>
            <a:ext cx="304800" cy="304800"/>
          </a:xfrm>
          <a:prstGeom prst="rect">
            <a:avLst/>
          </a:prstGeom>
        </p:spPr>
      </p:pic>
      <p:sp>
        <p:nvSpPr>
          <p:cNvPr name="AutoShape 21" id="21"/>
          <p:cNvSpPr/>
          <p:nvPr/>
        </p:nvSpPr>
        <p:spPr>
          <a:xfrm rot="0" flipH="false" flipV="false">
            <a:off x="7366000" y="21336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关键元数据强制绑定</a:t>
            </a:r>
            <a:endParaRPr lang="en-US" sz="1100"/>
          </a:p>
        </p:txBody>
      </p:sp>
      <p:cxnSp>
        <p:nvCxnSpPr>
          <p:cNvPr name="Connector 22" id="22"/>
          <p:cNvCxnSpPr/>
          <p:nvPr/>
        </p:nvCxnSpPr>
        <p:spPr>
          <a:xfrm rot="-9549" flipH="false" flipV="false">
            <a:off x="6858009" y="2660650"/>
            <a:ext cx="4572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23" id="23"/>
          <p:cNvSpPr/>
          <p:nvPr/>
        </p:nvSpPr>
        <p:spPr>
          <a:xfrm rot="0" flipH="false" flipV="false">
            <a:off x="6858000" y="2921000"/>
            <a:ext cx="2349500" cy="1079500"/>
          </a:xfrm>
          <a:prstGeom prst="roundRect">
            <a:avLst>
              <a:gd name="adj" fmla="val 0"/>
            </a:avLst>
          </a:prstGeom>
          <a:solidFill>
            <a:srgbClr val="4ADE80">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985000" y="3022600"/>
            <a:ext cx="215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4ADE80"/>
                </a:solidFill>
                <a:latin typeface="Noto Sans SC"/>
                <a:ea typeface="Noto Sans SC"/>
                <a:cs typeface="Noto Sans SC"/>
                <a:sym typeface="Noto Sans SC"/>
              </a:rPr>
              <a:t>source &amp; page</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FFFFFF">
                    <a:alpha val="70196"/>
                  </a:srgbClr>
                </a:solidFill>
                <a:latin typeface="Noto Sans SC"/>
                <a:ea typeface="Noto Sans SC"/>
                <a:cs typeface="Noto Sans SC"/>
                <a:sym typeface="Noto Sans SC"/>
              </a:rPr>
              <a:t>绑定文档原始文件名与PDF页码，明确数据溯源，便于复核原始内容。</a:t>
            </a:r>
          </a:p>
        </p:txBody>
      </p:sp>
      <p:sp>
        <p:nvSpPr>
          <p:cNvPr name="AutoShape 25" id="25"/>
          <p:cNvSpPr/>
          <p:nvPr/>
        </p:nvSpPr>
        <p:spPr>
          <a:xfrm rot="0" flipH="false" flipV="false">
            <a:off x="9271000" y="2921000"/>
            <a:ext cx="2349500" cy="1079500"/>
          </a:xfrm>
          <a:prstGeom prst="roundRect">
            <a:avLst>
              <a:gd name="adj" fmla="val 0"/>
            </a:avLst>
          </a:prstGeom>
          <a:solidFill>
            <a:srgbClr val="4ADE80">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9398000" y="3022600"/>
            <a:ext cx="215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4ADE80"/>
                </a:solidFill>
                <a:latin typeface="Noto Sans SC"/>
                <a:ea typeface="Noto Sans SC"/>
                <a:cs typeface="Noto Sans SC"/>
                <a:sym typeface="Noto Sans SC"/>
              </a:rPr>
              <a:t>title &amp; category</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FFFFFF">
                    <a:alpha val="70196"/>
                  </a:srgbClr>
                </a:solidFill>
                <a:latin typeface="Noto Sans SC"/>
                <a:ea typeface="Noto Sans SC"/>
                <a:cs typeface="Noto Sans SC"/>
                <a:sym typeface="Noto Sans SC"/>
              </a:rPr>
              <a:t>标注所属章节标题与内容分类（如RAG理论、向量库技术），用于精准归类检索。</a:t>
            </a:r>
          </a:p>
        </p:txBody>
      </p:sp>
      <p:sp>
        <p:nvSpPr>
          <p:cNvPr name="AutoShape 27" id="27"/>
          <p:cNvSpPr/>
          <p:nvPr/>
        </p:nvSpPr>
        <p:spPr>
          <a:xfrm rot="0" flipH="false" flipV="false">
            <a:off x="6858000" y="4191000"/>
            <a:ext cx="4762500" cy="1206500"/>
          </a:xfrm>
          <a:prstGeom prst="roundRect">
            <a:avLst>
              <a:gd name="adj" fmla="val 0"/>
            </a:avLst>
          </a:prstGeom>
          <a:solidFill>
            <a:srgbClr val="4ADE80">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6985000" y="4318000"/>
            <a:ext cx="4508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4ADE80"/>
                </a:solidFill>
                <a:latin typeface="Noto Sans SC"/>
                <a:ea typeface="Noto Sans SC"/>
                <a:cs typeface="Noto Sans SC"/>
                <a:sym typeface="Noto Sans SC"/>
              </a:rPr>
              <a:t>timestamp 时间戳管理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FFFFFF">
                    <a:alpha val="70196"/>
                  </a:srgbClr>
                </a:solidFill>
                <a:latin typeface="Noto Sans SC"/>
                <a:ea typeface="Noto Sans SC"/>
                <a:cs typeface="Noto Sans SC"/>
                <a:sym typeface="Noto Sans SC"/>
              </a:rPr>
              <a:t>记录文档最后更新的时间戳，在数据集迭代更新时，可依据时间维度筛选最新内容，淘汰过时信息，保障数据时效性。</a:t>
            </a:r>
          </a:p>
        </p:txBody>
      </p:sp>
      <p:sp>
        <p:nvSpPr>
          <p:cNvPr name="AutoShape 29" id="29"/>
          <p:cNvSpPr/>
          <p:nvPr/>
        </p:nvSpPr>
        <p:spPr>
          <a:xfrm rot="0" flipH="false" flipV="false">
            <a:off x="6858000" y="5588000"/>
            <a:ext cx="4762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90196"/>
                  </a:srgbClr>
                </a:solidFill>
                <a:latin typeface="Noto Sans SC"/>
                <a:ea typeface="Noto Sans SC"/>
                <a:cs typeface="Noto Sans SC"/>
                <a:sym typeface="Noto Sans SC"/>
              </a:rPr>
              <a:t>核心价值：完备的元数据是实现RAG系统精准召回与上下文过滤的基础，能显著提升问答的相关性与准确性。</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C2C2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标准RAG训练/评测数据集格式 (JSON样例)</a:t>
            </a:r>
            <a:endParaRPr lang="en-US" sz="1100"/>
          </a:p>
        </p:txBody>
      </p:sp>
      <p:sp>
        <p:nvSpPr>
          <p:cNvPr name="AutoShape 3" id="3"/>
          <p:cNvSpPr/>
          <p:nvPr/>
        </p:nvSpPr>
        <p:spPr>
          <a:xfrm rot="0" flipH="false" flipV="false">
            <a:off x="762000" y="1778000"/>
            <a:ext cx="5842000" cy="4064000"/>
          </a:xfrm>
          <a:prstGeom prst="roundRect">
            <a:avLst>
              <a:gd name="adj" fmla="val 0"/>
            </a:avLst>
          </a:prstGeom>
          <a:solidFill>
            <a:srgbClr val="383838">
              <a:alpha val="100000"/>
            </a:srgbClr>
          </a:solidFill>
          <a:ln w="12700" cmpd="sng" cap="flat">
            <a:solidFill>
              <a:srgbClr val="505050">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952500" y="1930400"/>
            <a:ext cx="152400" cy="152400"/>
          </a:xfrm>
          <a:prstGeom prst="ellipse">
            <a:avLst/>
          </a:prstGeom>
          <a:solidFill>
            <a:srgbClr val="FF5F5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206500" y="1930400"/>
            <a:ext cx="152400" cy="152400"/>
          </a:xfrm>
          <a:prstGeom prst="ellipse">
            <a:avLst/>
          </a:prstGeom>
          <a:solidFill>
            <a:srgbClr val="FFBD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460500" y="1930400"/>
            <a:ext cx="152400" cy="152400"/>
          </a:xfrm>
          <a:prstGeom prst="ellipse">
            <a:avLst/>
          </a:prstGeom>
          <a:solidFill>
            <a:srgbClr val="27C93F">
              <a:alpha val="100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7" id="7"/>
          <p:cNvCxnSpPr/>
          <p:nvPr/>
        </p:nvCxnSpPr>
        <p:spPr>
          <a:xfrm rot="-7473" flipH="false" flipV="false">
            <a:off x="762007" y="2279650"/>
            <a:ext cx="5842000" cy="12700"/>
          </a:xfrm>
          <a:prstGeom prst="straightConnector1">
            <a:avLst/>
          </a:prstGeom>
          <a:solidFill>
            <a:srgbClr val="DEE0E3">
              <a:alpha val="100000"/>
            </a:srgbClr>
          </a:solidFill>
          <a:ln w="12700" cmpd="sng" cap="flat">
            <a:solidFill>
              <a:srgbClr val="505050">
                <a:alpha val="100000"/>
              </a:srgbClr>
            </a:solidFill>
            <a:prstDash val="solid"/>
            <a:round/>
            <a:headEnd type="none" w="med" len="med"/>
            <a:tailEnd type="none" w="med" len="med"/>
          </a:ln>
        </p:spPr>
      </p:cxnSp>
      <p:sp>
        <p:nvSpPr>
          <p:cNvPr name="AutoShape 8" id="8"/>
          <p:cNvSpPr/>
          <p:nvPr/>
        </p:nvSpPr>
        <p:spPr>
          <a:xfrm rot="0" flipH="false" flipV="false">
            <a:off x="889000" y="2413000"/>
            <a:ext cx="5588000" cy="330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C678DD"/>
                </a:solidFill>
                <a:latin typeface="Source Code Pro"/>
                <a:ea typeface="Source Code Pro"/>
                <a:cs typeface="Source Code Pro"/>
                <a:sym typeface="Source Code Pro"/>
              </a:rPr>
              <a:t>{</a:t>
            </a:r>
            <a:r>
              <a:rPr lang="en-US" b="false" i="false" strike="noStrike" u="none" sz="1300">
                <a:solidFill>
                  <a:srgbClr val="1F2329"/>
                </a:solidFill>
                <a:latin typeface="Source Code Pro"/>
                <a:ea typeface="Source Code Pro"/>
                <a:cs typeface="Source Code Pro"/>
                <a:sym typeface="Source Code Pro"/>
              </a:rPr>
              <a:t/>
            </a:r>
            <a:endParaRPr lang="en-US" sz="1100"/>
          </a:p>
          <a:p>
            <a:pPr algn="l" marL="0" indent="0">
              <a:lnSpc>
                <a:spcPct val="116666"/>
              </a:lnSpc>
            </a:pPr>
            <a:r>
              <a:rPr lang="en-US" b="false" i="false" strike="noStrike" u="none" sz="1300">
                <a:solidFill>
                  <a:srgbClr val="98C379"/>
                </a:solidFill>
                <a:latin typeface="Source Code Pro"/>
                <a:ea typeface="Source Code Pro"/>
                <a:cs typeface="Source Code Pro"/>
                <a:sym typeface="Source Code Pro"/>
              </a:rPr>
              <a:t>"dataset_name"</a:t>
            </a:r>
            <a:r>
              <a:rPr lang="en-US" b="false" i="false" strike="noStrike" u="none" sz="1300">
                <a:solidFill>
                  <a:srgbClr val="FFFFFF"/>
                </a:solidFill>
                <a:latin typeface="Source Code Pro"/>
                <a:ea typeface="Source Code Pro"/>
                <a:cs typeface="Source Code Pro"/>
                <a:sym typeface="Source Code Pro"/>
              </a:rPr>
              <a:t>: "RAG技术问答集",</a:t>
            </a:r>
            <a:r>
              <a:rPr lang="en-US" b="false" i="false" strike="noStrike" u="none" sz="1300">
                <a:solidFill>
                  <a:srgbClr val="787878"/>
                </a:solidFill>
                <a:latin typeface="Source Code Pro"/>
                <a:ea typeface="Source Code Pro"/>
                <a:cs typeface="Source Code Pro"/>
                <a:sym typeface="Source Code Pro"/>
              </a:rPr>
              <a:t>// 数据集标识</a:t>
            </a:r>
            <a:r>
              <a:rPr lang="en-US" b="false" i="false" strike="noStrike" u="none" sz="1300">
                <a:solidFill>
                  <a:srgbClr val="1F2329"/>
                </a:solidFill>
                <a:latin typeface="Source Code Pro"/>
                <a:ea typeface="Source Code Pro"/>
                <a:cs typeface="Source Code Pro"/>
                <a:sym typeface="Source Code Pro"/>
              </a:rPr>
              <a:t/>
            </a:r>
          </a:p>
          <a:p>
            <a:pPr algn="l" marL="0" indent="0">
              <a:lnSpc>
                <a:spcPct val="116666"/>
              </a:lnSpc>
            </a:pPr>
            <a:r>
              <a:rPr lang="en-US" b="false" i="false" strike="noStrike" u="none" sz="1300">
                <a:solidFill>
                  <a:srgbClr val="98C379"/>
                </a:solidFill>
                <a:latin typeface="Source Code Pro"/>
                <a:ea typeface="Source Code Pro"/>
                <a:cs typeface="Source Code Pro"/>
                <a:sym typeface="Source Code Pro"/>
              </a:rPr>
              <a:t>"data"</a:t>
            </a:r>
            <a:r>
              <a:rPr lang="en-US" b="false" i="false" strike="noStrike" u="none" sz="1300">
                <a:solidFill>
                  <a:srgbClr val="FFFFFF"/>
                </a:solidFill>
                <a:latin typeface="Source Code Pro"/>
                <a:ea typeface="Source Code Pro"/>
                <a:cs typeface="Source Code Pro"/>
                <a:sym typeface="Source Code Pro"/>
              </a:rPr>
              <a:t>: [</a:t>
            </a:r>
            <a:r>
              <a:rPr lang="en-US" b="false" i="false" strike="noStrike" u="none" sz="1300">
                <a:solidFill>
                  <a:srgbClr val="1F2329"/>
                </a:solidFill>
                <a:latin typeface="Source Code Pro"/>
                <a:ea typeface="Source Code Pro"/>
                <a:cs typeface="Source Code Pro"/>
                <a:sym typeface="Source Code Pro"/>
              </a:rPr>
              <a:t/>
            </a:r>
          </a:p>
          <a:p>
            <a:pPr algn="l" marL="0" indent="0">
              <a:lnSpc>
                <a:spcPct val="116666"/>
              </a:lnSpc>
            </a:pPr>
            <a:r>
              <a:rPr lang="en-US" b="false" i="false" strike="noStrike" u="none" sz="1300">
                <a:solidFill>
                  <a:srgbClr val="FFFFFF"/>
                </a:solidFill>
                <a:latin typeface="Source Code Pro"/>
                <a:ea typeface="Source Code Pro"/>
                <a:cs typeface="Source Code Pro"/>
                <a:sym typeface="Source Code Pro"/>
              </a:rPr>
              <a:t>{ "question": "什么是RAG？",</a:t>
            </a:r>
            <a:r>
              <a:rPr lang="en-US" b="false" i="false" strike="noStrike" u="none" sz="1300">
                <a:solidFill>
                  <a:srgbClr val="1F2329"/>
                </a:solidFill>
                <a:latin typeface="Source Code Pro"/>
                <a:ea typeface="Source Code Pro"/>
                <a:cs typeface="Source Code Pro"/>
                <a:sym typeface="Source Code Pro"/>
              </a:rPr>
              <a:t/>
            </a:r>
          </a:p>
          <a:p>
            <a:pPr algn="l" marL="0" indent="0">
              <a:lnSpc>
                <a:spcPct val="116666"/>
              </a:lnSpc>
            </a:pPr>
            <a:r>
              <a:rPr lang="en-US" b="false" i="false" strike="noStrike" u="none" sz="1300">
                <a:solidFill>
                  <a:srgbClr val="FFFFFF"/>
                </a:solidFill>
                <a:latin typeface="Source Code Pro"/>
                <a:ea typeface="Source Code Pro"/>
                <a:cs typeface="Source Code Pro"/>
                <a:sym typeface="Source Code Pro"/>
              </a:rPr>
              <a:t>"answer": "检索增强生成是结合外部知识库与LLM的架构...",</a:t>
            </a:r>
            <a:r>
              <a:rPr lang="en-US" b="false" i="false" strike="noStrike" u="none" sz="1300">
                <a:solidFill>
                  <a:srgbClr val="1F2329"/>
                </a:solidFill>
                <a:latin typeface="Source Code Pro"/>
                <a:ea typeface="Source Code Pro"/>
                <a:cs typeface="Source Code Pro"/>
                <a:sym typeface="Source Code Pro"/>
              </a:rPr>
              <a:t/>
            </a:r>
          </a:p>
          <a:p>
            <a:pPr algn="l" marL="0" indent="0">
              <a:lnSpc>
                <a:spcPct val="116666"/>
              </a:lnSpc>
            </a:pPr>
            <a:r>
              <a:rPr lang="en-US" b="false" i="false" strike="noStrike" u="none" sz="1300">
                <a:solidFill>
                  <a:srgbClr val="FFFFFF"/>
                </a:solidFill>
                <a:latin typeface="Source Code Pro"/>
                <a:ea typeface="Source Code Pro"/>
                <a:cs typeface="Source Code Pro"/>
                <a:sym typeface="Source Code Pro"/>
              </a:rPr>
              <a:t>"contexts": ["RAG核心基础理论.md:10-25"],</a:t>
            </a:r>
            <a:r>
              <a:rPr lang="en-US" b="false" i="false" strike="noStrike" u="none" sz="1300">
                <a:solidFill>
                  <a:srgbClr val="1F2329"/>
                </a:solidFill>
                <a:latin typeface="Source Code Pro"/>
                <a:ea typeface="Source Code Pro"/>
                <a:cs typeface="Source Code Pro"/>
                <a:sym typeface="Source Code Pro"/>
              </a:rPr>
              <a:t/>
            </a:r>
          </a:p>
          <a:p>
            <a:pPr algn="l" marL="0" indent="0">
              <a:lnSpc>
                <a:spcPct val="116666"/>
              </a:lnSpc>
            </a:pPr>
            <a:r>
              <a:rPr lang="en-US" b="false" i="false" strike="noStrike" u="none" sz="1300">
                <a:solidFill>
                  <a:srgbClr val="FFFFFF"/>
                </a:solidFill>
                <a:latin typeface="Source Code Pro"/>
                <a:ea typeface="Source Code Pro"/>
                <a:cs typeface="Source Code Pro"/>
                <a:sym typeface="Source Code Pro"/>
              </a:rPr>
              <a:t>"metadata": { "category": "RAG理论", "difficulty": "简单" } }</a:t>
            </a:r>
            <a:r>
              <a:rPr lang="en-US" b="false" i="false" strike="noStrike" u="none" sz="1300">
                <a:solidFill>
                  <a:srgbClr val="1F2329"/>
                </a:solidFill>
                <a:latin typeface="Source Code Pro"/>
                <a:ea typeface="Source Code Pro"/>
                <a:cs typeface="Source Code Pro"/>
                <a:sym typeface="Source Code Pro"/>
              </a:rPr>
              <a:t/>
            </a:r>
          </a:p>
          <a:p>
            <a:pPr algn="l" marL="0" indent="0">
              <a:lnSpc>
                <a:spcPct val="116666"/>
              </a:lnSpc>
            </a:pPr>
            <a:r>
              <a:rPr lang="en-US" b="false" i="false" strike="noStrike" u="none" sz="1300">
                <a:solidFill>
                  <a:srgbClr val="C678DD"/>
                </a:solidFill>
                <a:latin typeface="Source Code Pro"/>
                <a:ea typeface="Source Code Pro"/>
                <a:cs typeface="Source Code Pro"/>
                <a:sym typeface="Source Code Pro"/>
              </a:rPr>
              <a:t>]}</a:t>
            </a:r>
          </a:p>
        </p:txBody>
      </p:sp>
      <p:cxnSp>
        <p:nvCxnSpPr>
          <p:cNvPr name="Connector 9" id="9"/>
          <p:cNvCxnSpPr/>
          <p:nvPr/>
        </p:nvCxnSpPr>
        <p:spPr>
          <a:xfrm rot="5389257" flipH="false" flipV="false">
            <a:off x="4953000" y="3803660"/>
            <a:ext cx="4064000" cy="12700"/>
          </a:xfrm>
          <a:prstGeom prst="straightConnector1">
            <a:avLst/>
          </a:prstGeom>
          <a:solidFill>
            <a:srgbClr val="DEE0E3">
              <a:alpha val="100000"/>
            </a:srgbClr>
          </a:solidFill>
          <a:ln w="12700" cmpd="sng" cap="flat">
            <a:solidFill>
              <a:srgbClr val="FFFFFF">
                <a:alpha val="15000"/>
              </a:srgbClr>
            </a:solidFill>
            <a:prstDash val="dash"/>
            <a:round/>
            <a:headEnd type="none" w="med" len="med"/>
            <a:tailEnd type="none" w="med" len="med"/>
          </a:ln>
        </p:spPr>
      </p:cxnSp>
      <p:sp>
        <p:nvSpPr>
          <p:cNvPr name="AutoShape 10" id="10"/>
          <p:cNvSpPr/>
          <p:nvPr/>
        </p:nvSpPr>
        <p:spPr>
          <a:xfrm rot="0" flipH="false" flipV="false">
            <a:off x="7239000" y="1778000"/>
            <a:ext cx="4191000" cy="1206500"/>
          </a:xfrm>
          <a:prstGeom prst="roundRect">
            <a:avLst>
              <a:gd name="adj" fmla="val 0"/>
            </a:avLst>
          </a:prstGeom>
          <a:solidFill>
            <a:srgbClr val="FFFFFF">
              <a:alpha val="5000"/>
            </a:srgbClr>
          </a:solidFill>
          <a:ln w="12700" cmpd="sng" cap="flat">
            <a:solidFill>
              <a:srgbClr val="00E676">
                <a:alpha val="3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239000" y="1778000"/>
            <a:ext cx="76200" cy="1206500"/>
          </a:xfrm>
          <a:prstGeom prst="roundRect">
            <a:avLst>
              <a:gd name="adj" fmla="val 0"/>
            </a:avLst>
          </a:prstGeom>
          <a:solidFill>
            <a:srgbClr val="00E67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493000" y="1930400"/>
            <a:ext cx="304800" cy="304800"/>
          </a:xfrm>
          <a:prstGeom prst="rect">
            <a:avLst/>
          </a:prstGeom>
        </p:spPr>
      </p:pic>
      <p:sp>
        <p:nvSpPr>
          <p:cNvPr name="AutoShape 13" id="13"/>
          <p:cNvSpPr/>
          <p:nvPr/>
        </p:nvSpPr>
        <p:spPr>
          <a:xfrm rot="0" flipH="false" flipV="false">
            <a:off x="7937500" y="1879600"/>
            <a:ext cx="3365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核心字段：基础信息定义</a:t>
            </a:r>
            <a:endParaRPr lang="en-US" sz="1100"/>
          </a:p>
        </p:txBody>
      </p:sp>
      <p:sp>
        <p:nvSpPr>
          <p:cNvPr name="AutoShape 14" id="14"/>
          <p:cNvSpPr/>
          <p:nvPr/>
        </p:nvSpPr>
        <p:spPr>
          <a:xfrm rot="0" flipH="false" flipV="false">
            <a:off x="7493000" y="2349500"/>
            <a:ext cx="3810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70196"/>
                  </a:srgbClr>
                </a:solidFill>
                <a:latin typeface="Noto Sans SC"/>
                <a:ea typeface="Noto Sans SC"/>
                <a:cs typeface="Noto Sans SC"/>
                <a:sym typeface="Noto Sans SC"/>
              </a:rPr>
              <a:t>通过dataset_name与description定义数据集身份，data数组承载具体样本，确保数据集的可识别性与结构化管理。</a:t>
            </a:r>
            <a:endParaRPr lang="en-US" sz="1100"/>
          </a:p>
        </p:txBody>
      </p:sp>
      <p:sp>
        <p:nvSpPr>
          <p:cNvPr name="AutoShape 15" id="15"/>
          <p:cNvSpPr/>
          <p:nvPr/>
        </p:nvSpPr>
        <p:spPr>
          <a:xfrm rot="0" flipH="false" flipV="false">
            <a:off x="7239000" y="3238500"/>
            <a:ext cx="4191000" cy="1206500"/>
          </a:xfrm>
          <a:prstGeom prst="roundRect">
            <a:avLst>
              <a:gd name="adj" fmla="val 0"/>
            </a:avLst>
          </a:prstGeom>
          <a:solidFill>
            <a:srgbClr val="FFFFFF">
              <a:alpha val="5000"/>
            </a:srgbClr>
          </a:solidFill>
          <a:ln w="12700" cmpd="sng" cap="flat">
            <a:solidFill>
              <a:srgbClr val="00E676">
                <a:alpha val="3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239000" y="3238500"/>
            <a:ext cx="76200" cy="1206500"/>
          </a:xfrm>
          <a:prstGeom prst="roundRect">
            <a:avLst>
              <a:gd name="adj" fmla="val 0"/>
            </a:avLst>
          </a:prstGeom>
          <a:solidFill>
            <a:srgbClr val="00E67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493000" y="3390900"/>
            <a:ext cx="304800" cy="304800"/>
          </a:xfrm>
          <a:prstGeom prst="rect">
            <a:avLst/>
          </a:prstGeom>
        </p:spPr>
      </p:pic>
      <p:sp>
        <p:nvSpPr>
          <p:cNvPr name="AutoShape 18" id="18"/>
          <p:cNvSpPr/>
          <p:nvPr/>
        </p:nvSpPr>
        <p:spPr>
          <a:xfrm rot="0" flipH="false" flipV="false">
            <a:off x="7937500" y="3340100"/>
            <a:ext cx="3365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关键关联：问答与参考上下文</a:t>
            </a:r>
            <a:endParaRPr lang="en-US" sz="1100"/>
          </a:p>
        </p:txBody>
      </p:sp>
      <p:sp>
        <p:nvSpPr>
          <p:cNvPr name="AutoShape 19" id="19"/>
          <p:cNvSpPr/>
          <p:nvPr/>
        </p:nvSpPr>
        <p:spPr>
          <a:xfrm rot="0" flipH="false" flipV="false">
            <a:off x="7493000" y="3810000"/>
            <a:ext cx="3810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70196"/>
                  </a:srgbClr>
                </a:solidFill>
                <a:latin typeface="Noto Sans SC"/>
                <a:ea typeface="Noto Sans SC"/>
                <a:cs typeface="Noto Sans SC"/>
                <a:sym typeface="Noto Sans SC"/>
              </a:rPr>
              <a:t>每个样本包含question、answer及contexts列表，明确标注答案来源的文档片段，建立问答与知识库的对应关系。</a:t>
            </a:r>
            <a:endParaRPr lang="en-US" sz="1100"/>
          </a:p>
        </p:txBody>
      </p:sp>
      <p:sp>
        <p:nvSpPr>
          <p:cNvPr name="AutoShape 20" id="20"/>
          <p:cNvSpPr/>
          <p:nvPr/>
        </p:nvSpPr>
        <p:spPr>
          <a:xfrm rot="0" flipH="false" flipV="false">
            <a:off x="7239000" y="4699000"/>
            <a:ext cx="4191000" cy="1206500"/>
          </a:xfrm>
          <a:prstGeom prst="roundRect">
            <a:avLst>
              <a:gd name="adj" fmla="val 0"/>
            </a:avLst>
          </a:prstGeom>
          <a:solidFill>
            <a:srgbClr val="FFFFFF">
              <a:alpha val="5000"/>
            </a:srgbClr>
          </a:solidFill>
          <a:ln w="12700" cmpd="sng" cap="flat">
            <a:solidFill>
              <a:srgbClr val="00E676">
                <a:alpha val="3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239000" y="4699000"/>
            <a:ext cx="76200" cy="1206500"/>
          </a:xfrm>
          <a:prstGeom prst="roundRect">
            <a:avLst>
              <a:gd name="adj" fmla="val 0"/>
            </a:avLst>
          </a:prstGeom>
          <a:solidFill>
            <a:srgbClr val="00E67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493000" y="4851400"/>
            <a:ext cx="304800" cy="304800"/>
          </a:xfrm>
          <a:prstGeom prst="rect">
            <a:avLst/>
          </a:prstGeom>
        </p:spPr>
      </p:pic>
      <p:sp>
        <p:nvSpPr>
          <p:cNvPr name="AutoShape 23" id="23"/>
          <p:cNvSpPr/>
          <p:nvPr/>
        </p:nvSpPr>
        <p:spPr>
          <a:xfrm rot="0" flipH="false" flipV="false">
            <a:off x="7937500" y="4800600"/>
            <a:ext cx="3365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扩展维度：元数据属性标注</a:t>
            </a:r>
            <a:endParaRPr lang="en-US" sz="1100"/>
          </a:p>
        </p:txBody>
      </p:sp>
      <p:sp>
        <p:nvSpPr>
          <p:cNvPr name="AutoShape 24" id="24"/>
          <p:cNvSpPr/>
          <p:nvPr/>
        </p:nvSpPr>
        <p:spPr>
          <a:xfrm rot="0" flipH="false" flipV="false">
            <a:off x="7493000" y="5270500"/>
            <a:ext cx="3810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70196"/>
                  </a:srgbClr>
                </a:solidFill>
                <a:latin typeface="Noto Sans SC"/>
                <a:ea typeface="Noto Sans SC"/>
                <a:cs typeface="Noto Sans SC"/>
                <a:sym typeface="Noto Sans SC"/>
              </a:rPr>
              <a:t>metadata字段补充category、difficulty等属性，为后续的分层评测、场景化分析和难度梯度训练提供数据支撑。</a:t>
            </a:r>
            <a:endParaRPr lang="en-US" sz="1100"/>
          </a:p>
        </p:txBody>
      </p:sp>
      <p:sp>
        <p:nvSpPr>
          <p:cNvPr name="AutoShape 25" id="25"/>
          <p:cNvSpPr/>
          <p:nvPr/>
        </p:nvSpPr>
        <p:spPr>
          <a:xfrm rot="0" flipH="false" flipV="false">
            <a:off x="762000" y="6096000"/>
            <a:ext cx="10668000" cy="508000"/>
          </a:xfrm>
          <a:prstGeom prst="roundRect">
            <a:avLst>
              <a:gd name="adj" fmla="val 0"/>
            </a:avLst>
          </a:prstGeom>
          <a:solidFill>
            <a:srgbClr val="00E676">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89000" y="6197600"/>
            <a:ext cx="1041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FFFFFF"/>
                </a:solidFill>
                <a:latin typeface="Noto Sans SC"/>
                <a:ea typeface="Noto Sans SC"/>
                <a:cs typeface="Noto Sans SC"/>
                <a:sym typeface="Noto Sans SC"/>
              </a:rPr>
              <a:t>标准化JSON格式优势：结构清晰、易于自动化解析、支持多维度评测指标关联，适配各类RAG系统的训练与验证流程。</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C1C1E">
                <a:alpha val="100000"/>
              </a:srgbClr>
            </a:gs>
            <a:gs pos="100000">
              <a:srgbClr val="2C2C2E">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508000" y="508000"/>
            <a:ext cx="1524000" cy="762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762000"/>
            <a:ext cx="762000" cy="76200"/>
          </a:xfrm>
          <a:prstGeom prst="roundRect">
            <a:avLst>
              <a:gd name="adj" fmla="val 0"/>
            </a:avLst>
          </a:prstGeom>
          <a:solidFill>
            <a:srgbClr val="4ADE80">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0" y="6019800"/>
            <a:ext cx="1524000" cy="762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922000" y="5765800"/>
            <a:ext cx="762000" cy="76200"/>
          </a:xfrm>
          <a:prstGeom prst="roundRect">
            <a:avLst>
              <a:gd name="adj" fmla="val 0"/>
            </a:avLst>
          </a:prstGeom>
          <a:solidFill>
            <a:srgbClr val="4ADE80">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2667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Q &amp; A</a:t>
            </a:r>
            <a:endParaRPr lang="en-US" sz="1100"/>
          </a:p>
        </p:txBody>
      </p:sp>
      <p:cxnSp>
        <p:nvCxnSpPr>
          <p:cNvPr name="Connector 7" id="7"/>
          <p:cNvCxnSpPr/>
          <p:nvPr/>
        </p:nvCxnSpPr>
        <p:spPr>
          <a:xfrm rot="-17188" flipH="false" flipV="false">
            <a:off x="4826016" y="4184650"/>
            <a:ext cx="2540000" cy="12700"/>
          </a:xfrm>
          <a:prstGeom prst="straightConnector1">
            <a:avLst/>
          </a:prstGeom>
          <a:solidFill>
            <a:srgbClr val="DEE0E3">
              <a:alpha val="100000"/>
            </a:srgbClr>
          </a:solidFill>
          <a:ln w="25400" cmpd="sng" cap="flat">
            <a:solidFill>
              <a:srgbClr val="4ADE80">
                <a:alpha val="60000"/>
              </a:srgbClr>
            </a:solidFill>
            <a:prstDash val="solid"/>
            <a:round/>
            <a:headEnd type="none" w="lg" len="lg"/>
            <a:tailEnd type="none" w="lg" len="lg"/>
          </a:ln>
        </p:spPr>
      </p:cxnSp>
      <p:sp>
        <p:nvSpPr>
          <p:cNvPr name="AutoShape 8" id="8"/>
          <p:cNvSpPr/>
          <p:nvPr/>
        </p:nvSpPr>
        <p:spPr>
          <a:xfrm rot="0" flipH="false" flipV="false">
            <a:off x="0" y="4699000"/>
            <a:ext cx="1219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400">
                <a:solidFill>
                  <a:srgbClr val="FFFFFF">
                    <a:alpha val="90196"/>
                  </a:srgbClr>
                </a:solidFill>
                <a:latin typeface="Noto Sans SC"/>
                <a:ea typeface="Noto Sans SC"/>
                <a:cs typeface="Noto Sans SC"/>
                <a:sym typeface="Noto Sans SC"/>
              </a:rPr>
              <a:t>感谢聆听</a:t>
            </a:r>
            <a:endParaRPr lang="en-US" sz="1100"/>
          </a:p>
        </p:txBody>
      </p:sp>
      <p:sp>
        <p:nvSpPr>
          <p:cNvPr name="AutoShape 9" id="9"/>
          <p:cNvSpPr/>
          <p:nvPr/>
        </p:nvSpPr>
        <p:spPr>
          <a:xfrm rot="0" flipH="false" flipV="false">
            <a:off x="0" y="55880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FFFFF">
                    <a:alpha val="60000"/>
                  </a:srgbClr>
                </a:solidFill>
                <a:latin typeface="Noto Sans SC"/>
                <a:ea typeface="Noto Sans SC"/>
                <a:cs typeface="Noto Sans SC"/>
                <a:sym typeface="Noto Sans SC"/>
              </a:rPr>
              <a:t>欢迎提出问题与建议，共同探讨交流，碰撞思维火花</a:t>
            </a:r>
            <a:endParaRPr lang="en-US" sz="1100"/>
          </a:p>
        </p:txBody>
      </p:sp>
      <p:pic>
        <p:nvPicPr>
          <p:cNvPr name="Picture 10" id="10"/>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{"Label":"1","ContentProducer":"001191110102MACQD9K64010000","ProduceID":"7651811158706998474","ReservedCode1":"","ContentPropagator":"","PropagateID":"","ReservedCode2":""}</vt:lpwstr>
  </property>
</Properties>
</file>